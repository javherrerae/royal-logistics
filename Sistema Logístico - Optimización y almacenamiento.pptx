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DM Sans Bold" charset="1" panose="00000000000000000000"/>
      <p:regular r:id="rId14"/>
    </p:embeddedFont>
    <p:embeddedFont>
      <p:font typeface="Open Sauce" charset="1" panose="00000500000000000000"/>
      <p:regular r:id="rId15"/>
    </p:embeddedFont>
    <p:embeddedFont>
      <p:font typeface="Open Sauce Bold" charset="1" panose="00000800000000000000"/>
      <p:regular r:id="rId16"/>
    </p:embeddedFont>
    <p:embeddedFont>
      <p:font typeface="Open Sauce Italic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39568" y="-3820836"/>
            <a:ext cx="7641673" cy="76416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48521" y="5463041"/>
            <a:ext cx="7641673" cy="76416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77665" y="8338225"/>
            <a:ext cx="1840150" cy="18401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35527" y="5143500"/>
            <a:ext cx="1253611" cy="125361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17627" y="1428510"/>
            <a:ext cx="920075" cy="92007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090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10800000">
            <a:off x="10779165" y="8793275"/>
            <a:ext cx="3593446" cy="1796723"/>
          </a:xfrm>
          <a:custGeom>
            <a:avLst/>
            <a:gdLst/>
            <a:ahLst/>
            <a:cxnLst/>
            <a:rect r="r" b="b" t="t" l="l"/>
            <a:pathLst>
              <a:path h="1796723" w="3593446">
                <a:moveTo>
                  <a:pt x="0" y="0"/>
                </a:moveTo>
                <a:lnTo>
                  <a:pt x="3593446" y="0"/>
                </a:lnTo>
                <a:lnTo>
                  <a:pt x="3593446" y="1796723"/>
                </a:lnTo>
                <a:lnTo>
                  <a:pt x="0" y="17967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11994053" y="7989579"/>
            <a:ext cx="1796723" cy="3593446"/>
          </a:xfrm>
          <a:custGeom>
            <a:avLst/>
            <a:gdLst/>
            <a:ahLst/>
            <a:cxnLst/>
            <a:rect r="r" b="b" t="t" l="l"/>
            <a:pathLst>
              <a:path h="3593446" w="1796723">
                <a:moveTo>
                  <a:pt x="0" y="0"/>
                </a:moveTo>
                <a:lnTo>
                  <a:pt x="1796723" y="0"/>
                </a:lnTo>
                <a:lnTo>
                  <a:pt x="1796723" y="3593447"/>
                </a:lnTo>
                <a:lnTo>
                  <a:pt x="0" y="3593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true" rot="-5400000">
            <a:off x="15347413" y="-2504047"/>
            <a:ext cx="3823773" cy="7647547"/>
          </a:xfrm>
          <a:custGeom>
            <a:avLst/>
            <a:gdLst/>
            <a:ahLst/>
            <a:cxnLst/>
            <a:rect r="r" b="b" t="t" l="l"/>
            <a:pathLst>
              <a:path h="7647547" w="3823773">
                <a:moveTo>
                  <a:pt x="3823774" y="7647547"/>
                </a:moveTo>
                <a:lnTo>
                  <a:pt x="0" y="7647547"/>
                </a:lnTo>
                <a:lnTo>
                  <a:pt x="0" y="0"/>
                </a:lnTo>
                <a:lnTo>
                  <a:pt x="3823774" y="0"/>
                </a:lnTo>
                <a:lnTo>
                  <a:pt x="3823774" y="764754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17248" y="2810577"/>
            <a:ext cx="9606000" cy="1980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290"/>
              </a:lnSpc>
            </a:pPr>
            <a:r>
              <a:rPr lang="en-US" b="true" sz="11635">
                <a:solidFill>
                  <a:srgbClr val="C20909"/>
                </a:solidFill>
                <a:latin typeface="DM Sans Bold"/>
                <a:ea typeface="DM Sans Bold"/>
                <a:cs typeface="DM Sans Bold"/>
                <a:sym typeface="DM Sans Bold"/>
              </a:rPr>
              <a:t>Royal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7248" y="4143200"/>
            <a:ext cx="9606000" cy="223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66"/>
              </a:lnSpc>
            </a:pPr>
            <a:r>
              <a:rPr lang="en-US" b="true" sz="1304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Logistics</a:t>
            </a:r>
          </a:p>
        </p:txBody>
      </p:sp>
      <p:sp>
        <p:nvSpPr>
          <p:cNvPr name="Freeform 22" id="22"/>
          <p:cNvSpPr/>
          <p:nvPr/>
        </p:nvSpPr>
        <p:spPr>
          <a:xfrm flipH="true" flipV="false" rot="0">
            <a:off x="163807" y="8247459"/>
            <a:ext cx="1922810" cy="1922810"/>
          </a:xfrm>
          <a:custGeom>
            <a:avLst/>
            <a:gdLst/>
            <a:ahLst/>
            <a:cxnLst/>
            <a:rect r="r" b="b" t="t" l="l"/>
            <a:pathLst>
              <a:path h="1922810" w="1922810">
                <a:moveTo>
                  <a:pt x="1922810" y="0"/>
                </a:moveTo>
                <a:lnTo>
                  <a:pt x="0" y="0"/>
                </a:lnTo>
                <a:lnTo>
                  <a:pt x="0" y="1922811"/>
                </a:lnTo>
                <a:lnTo>
                  <a:pt x="1922810" y="1922811"/>
                </a:lnTo>
                <a:lnTo>
                  <a:pt x="192281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17248" y="6763855"/>
            <a:ext cx="11333930" cy="504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</a:pPr>
            <a:r>
              <a:rPr lang="en-US" sz="2997">
                <a:solidFill>
                  <a:srgbClr val="C20909"/>
                </a:solidFill>
                <a:latin typeface="Open Sauce"/>
                <a:ea typeface="Open Sauce"/>
                <a:cs typeface="Open Sauce"/>
                <a:sym typeface="Open Sauce"/>
              </a:rPr>
              <a:t>Sistema Logístico basado en arquitectura de microservicios</a:t>
            </a:r>
          </a:p>
        </p:txBody>
      </p:sp>
      <p:sp>
        <p:nvSpPr>
          <p:cNvPr name="Freeform 24" id="24"/>
          <p:cNvSpPr/>
          <p:nvPr/>
        </p:nvSpPr>
        <p:spPr>
          <a:xfrm flipH="true" flipV="false" rot="0">
            <a:off x="825930" y="628890"/>
            <a:ext cx="982636" cy="799620"/>
          </a:xfrm>
          <a:custGeom>
            <a:avLst/>
            <a:gdLst/>
            <a:ahLst/>
            <a:cxnLst/>
            <a:rect r="r" b="b" t="t" l="l"/>
            <a:pathLst>
              <a:path h="799620" w="982636">
                <a:moveTo>
                  <a:pt x="982636" y="0"/>
                </a:moveTo>
                <a:lnTo>
                  <a:pt x="0" y="0"/>
                </a:lnTo>
                <a:lnTo>
                  <a:pt x="0" y="799620"/>
                </a:lnTo>
                <a:lnTo>
                  <a:pt x="982636" y="799620"/>
                </a:lnTo>
                <a:lnTo>
                  <a:pt x="98263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945652" y="807135"/>
            <a:ext cx="604213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DESARROLLO FULLSTACK 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84008" y="7668783"/>
            <a:ext cx="4659992" cy="405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sz="239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Acxel González - Javier Herrera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45652" y="1515749"/>
            <a:ext cx="4423328" cy="37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sz="219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Mauricio González Vejar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39568" y="-3820836"/>
            <a:ext cx="7641673" cy="76416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63807" y="8247459"/>
            <a:ext cx="1922810" cy="1922810"/>
          </a:xfrm>
          <a:custGeom>
            <a:avLst/>
            <a:gdLst/>
            <a:ahLst/>
            <a:cxnLst/>
            <a:rect r="r" b="b" t="t" l="l"/>
            <a:pathLst>
              <a:path h="1922810" w="1922810">
                <a:moveTo>
                  <a:pt x="1922810" y="0"/>
                </a:moveTo>
                <a:lnTo>
                  <a:pt x="0" y="0"/>
                </a:lnTo>
                <a:lnTo>
                  <a:pt x="0" y="1922811"/>
                </a:lnTo>
                <a:lnTo>
                  <a:pt x="1922810" y="1922811"/>
                </a:lnTo>
                <a:lnTo>
                  <a:pt x="19228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77665" y="8338225"/>
            <a:ext cx="1840150" cy="184015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1896102" y="7894913"/>
            <a:ext cx="1796723" cy="3593446"/>
          </a:xfrm>
          <a:custGeom>
            <a:avLst/>
            <a:gdLst/>
            <a:ahLst/>
            <a:cxnLst/>
            <a:rect r="r" b="b" t="t" l="l"/>
            <a:pathLst>
              <a:path h="3593446" w="1796723">
                <a:moveTo>
                  <a:pt x="0" y="0"/>
                </a:moveTo>
                <a:lnTo>
                  <a:pt x="1796723" y="0"/>
                </a:lnTo>
                <a:lnTo>
                  <a:pt x="1796723" y="3593447"/>
                </a:lnTo>
                <a:lnTo>
                  <a:pt x="0" y="3593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825930" y="628890"/>
            <a:ext cx="982636" cy="799620"/>
          </a:xfrm>
          <a:custGeom>
            <a:avLst/>
            <a:gdLst/>
            <a:ahLst/>
            <a:cxnLst/>
            <a:rect r="r" b="b" t="t" l="l"/>
            <a:pathLst>
              <a:path h="799620" w="982636">
                <a:moveTo>
                  <a:pt x="982636" y="0"/>
                </a:moveTo>
                <a:lnTo>
                  <a:pt x="0" y="0"/>
                </a:lnTo>
                <a:lnTo>
                  <a:pt x="0" y="799620"/>
                </a:lnTo>
                <a:lnTo>
                  <a:pt x="982636" y="799620"/>
                </a:lnTo>
                <a:lnTo>
                  <a:pt x="98263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617627" y="1428510"/>
            <a:ext cx="920075" cy="92007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090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99487" y="5051392"/>
            <a:ext cx="1360917" cy="136091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193141" y="291185"/>
            <a:ext cx="3470807" cy="6595357"/>
          </a:xfrm>
          <a:custGeom>
            <a:avLst/>
            <a:gdLst/>
            <a:ahLst/>
            <a:cxnLst/>
            <a:rect r="r" b="b" t="t" l="l"/>
            <a:pathLst>
              <a:path h="6595357" w="3470807">
                <a:moveTo>
                  <a:pt x="0" y="0"/>
                </a:moveTo>
                <a:lnTo>
                  <a:pt x="3470806" y="0"/>
                </a:lnTo>
                <a:lnTo>
                  <a:pt x="3470806" y="6595357"/>
                </a:lnTo>
                <a:lnTo>
                  <a:pt x="0" y="65953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25212" y="1927029"/>
            <a:ext cx="6596575" cy="51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4"/>
              </a:lnSpc>
            </a:pPr>
            <a:r>
              <a:rPr lang="en-US" b="true" sz="3848">
                <a:solidFill>
                  <a:srgbClr val="C20909"/>
                </a:solidFill>
                <a:latin typeface="DM Sans Bold"/>
                <a:ea typeface="DM Sans Bold"/>
                <a:cs typeface="DM Sans Bold"/>
                <a:sym typeface="DM Sans Bold"/>
              </a:rPr>
              <a:t>Objetivos del Sistema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78662" y="1000125"/>
            <a:ext cx="2539503" cy="288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3"/>
              </a:lnSpc>
            </a:pPr>
            <a:r>
              <a:rPr lang="en-US" b="true" sz="175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ROYAL LOGISTICS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5212" y="2896782"/>
            <a:ext cx="9938947" cy="69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3"/>
              </a:lnSpc>
            </a:pPr>
            <a:r>
              <a:rPr lang="en-US" sz="200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00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esarrollar un sistema logístico orientado al control de recepción,</a:t>
            </a:r>
          </a:p>
          <a:p>
            <a:pPr algn="l" marL="0" indent="0" lvl="0">
              <a:lnSpc>
                <a:spcPts val="2803"/>
              </a:lnSpc>
            </a:pPr>
            <a:r>
              <a:rPr lang="en-US" sz="200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almacenamiento, stock y trazabilidad utilizando arquitectura de microservicios.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5212" y="4828870"/>
            <a:ext cx="6596575" cy="51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4"/>
              </a:lnSpc>
            </a:pPr>
            <a:r>
              <a:rPr lang="en-US" b="true" sz="3848">
                <a:solidFill>
                  <a:srgbClr val="C20909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Problemas que resuelve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5212" y="5553071"/>
            <a:ext cx="9938947" cy="1396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3"/>
              </a:lnSpc>
            </a:pPr>
            <a:r>
              <a:rPr lang="en-US" sz="200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Mucha</a:t>
            </a:r>
            <a:r>
              <a:rPr lang="en-US" sz="200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operaciones logísticas presentan problemas de trazabilidad, diferencias de stock y falta de control operacional.</a:t>
            </a:r>
          </a:p>
          <a:p>
            <a:pPr algn="l" marL="0" indent="0" lvl="0">
              <a:lnSpc>
                <a:spcPts val="2803"/>
              </a:lnSpc>
            </a:pPr>
            <a:r>
              <a:rPr lang="en-US" sz="200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Nuestro sistema busca centralizar y registrar cada movimiento realizado dentro de una bodega.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20556" y="4156862"/>
            <a:ext cx="7641673" cy="76416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135475" y="8682396"/>
            <a:ext cx="1922810" cy="1922810"/>
          </a:xfrm>
          <a:custGeom>
            <a:avLst/>
            <a:gdLst/>
            <a:ahLst/>
            <a:cxnLst/>
            <a:rect r="r" b="b" t="t" l="l"/>
            <a:pathLst>
              <a:path h="1922810" w="1922810">
                <a:moveTo>
                  <a:pt x="1922810" y="0"/>
                </a:moveTo>
                <a:lnTo>
                  <a:pt x="0" y="0"/>
                </a:lnTo>
                <a:lnTo>
                  <a:pt x="0" y="1922810"/>
                </a:lnTo>
                <a:lnTo>
                  <a:pt x="1922810" y="1922810"/>
                </a:lnTo>
                <a:lnTo>
                  <a:pt x="19228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557554" y="9064831"/>
            <a:ext cx="626805" cy="6268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214959" y="2196825"/>
            <a:ext cx="1009535" cy="100953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090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58348" y="-688990"/>
            <a:ext cx="1840150" cy="184015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true" flipV="false" rot="0">
            <a:off x="825930" y="628890"/>
            <a:ext cx="982636" cy="799620"/>
          </a:xfrm>
          <a:custGeom>
            <a:avLst/>
            <a:gdLst/>
            <a:ahLst/>
            <a:cxnLst/>
            <a:rect r="r" b="b" t="t" l="l"/>
            <a:pathLst>
              <a:path h="799620" w="982636">
                <a:moveTo>
                  <a:pt x="982636" y="0"/>
                </a:moveTo>
                <a:lnTo>
                  <a:pt x="0" y="0"/>
                </a:lnTo>
                <a:lnTo>
                  <a:pt x="0" y="799620"/>
                </a:lnTo>
                <a:lnTo>
                  <a:pt x="982636" y="799620"/>
                </a:lnTo>
                <a:lnTo>
                  <a:pt x="98263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11628097" y="-1949704"/>
            <a:ext cx="3100864" cy="6201727"/>
          </a:xfrm>
          <a:custGeom>
            <a:avLst/>
            <a:gdLst/>
            <a:ahLst/>
            <a:cxnLst/>
            <a:rect r="r" b="b" t="t" l="l"/>
            <a:pathLst>
              <a:path h="6201727" w="3100864">
                <a:moveTo>
                  <a:pt x="0" y="0"/>
                </a:moveTo>
                <a:lnTo>
                  <a:pt x="3100864" y="0"/>
                </a:lnTo>
                <a:lnTo>
                  <a:pt x="3100864" y="6201728"/>
                </a:lnTo>
                <a:lnTo>
                  <a:pt x="0" y="6201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58485" y="4156862"/>
            <a:ext cx="361292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sz="2400">
                <a:solidFill>
                  <a:srgbClr val="AE1B30"/>
                </a:solidFill>
                <a:latin typeface="Open Sauce"/>
                <a:ea typeface="Open Sauce"/>
                <a:cs typeface="Open Sauce"/>
                <a:sym typeface="Open Sauce"/>
              </a:rPr>
              <a:t>Factura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101" y="4156862"/>
            <a:ext cx="361292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sz="2400">
                <a:solidFill>
                  <a:srgbClr val="AE1B30"/>
                </a:solidFill>
                <a:latin typeface="Open Sauce"/>
                <a:ea typeface="Open Sauce"/>
                <a:cs typeface="Open Sauce"/>
                <a:sym typeface="Open Sauce"/>
              </a:rPr>
              <a:t>Recepción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9672" y="3717083"/>
            <a:ext cx="237978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7"/>
              </a:lnSpc>
            </a:pPr>
            <a:r>
              <a:rPr lang="en-US" sz="216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30524" y="4156862"/>
            <a:ext cx="347028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sz="2400">
                <a:solidFill>
                  <a:srgbClr val="AE1B30"/>
                </a:solidFill>
                <a:latin typeface="Open Sauce"/>
                <a:ea typeface="Open Sauce"/>
                <a:cs typeface="Open Sauce"/>
                <a:sym typeface="Open Sauce"/>
              </a:rPr>
              <a:t>Desconsolidación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075056" y="3717083"/>
            <a:ext cx="237978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7"/>
              </a:lnSpc>
            </a:pPr>
            <a:r>
              <a:rPr lang="en-US" sz="216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75775" y="3717083"/>
            <a:ext cx="237978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7"/>
              </a:lnSpc>
            </a:pPr>
            <a:r>
              <a:rPr lang="en-US" sz="216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38802" y="4156862"/>
            <a:ext cx="304997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sz="2400">
                <a:solidFill>
                  <a:srgbClr val="AE1B30"/>
                </a:solidFill>
                <a:latin typeface="Open Sauce"/>
                <a:ea typeface="Open Sauce"/>
                <a:cs typeface="Open Sauce"/>
                <a:sym typeface="Open Sauce"/>
              </a:rPr>
              <a:t>Producto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23492" y="3717083"/>
            <a:ext cx="237978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7"/>
              </a:lnSpc>
            </a:pPr>
            <a:r>
              <a:rPr lang="en-US" sz="216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38485" y="4157464"/>
            <a:ext cx="334231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sz="2400">
                <a:solidFill>
                  <a:srgbClr val="AE1B30"/>
                </a:solidFill>
                <a:latin typeface="Open Sauce"/>
                <a:ea typeface="Open Sauce"/>
                <a:cs typeface="Open Sauce"/>
                <a:sym typeface="Open Sauce"/>
              </a:rPr>
              <a:t>Warehouse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719750" y="3717685"/>
            <a:ext cx="237978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7"/>
              </a:lnSpc>
            </a:pPr>
            <a:r>
              <a:rPr lang="en-US" sz="216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8006" y="1793679"/>
            <a:ext cx="6747792" cy="645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88"/>
              </a:lnSpc>
            </a:pPr>
            <a:r>
              <a:rPr lang="en-US" b="true" sz="3848">
                <a:solidFill>
                  <a:srgbClr val="C20909"/>
                </a:solidFill>
                <a:latin typeface="DM Sans Bold"/>
                <a:ea typeface="DM Sans Bold"/>
                <a:cs typeface="DM Sans Bold"/>
                <a:sym typeface="DM Sans Bold"/>
              </a:rPr>
              <a:t>Flujo logístico - Inbound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34898" y="992537"/>
            <a:ext cx="2539503" cy="288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3"/>
              </a:lnSpc>
            </a:pPr>
            <a:r>
              <a:rPr lang="en-US" b="true" sz="175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ROYAL LOGISTICS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41838" y="4882243"/>
            <a:ext cx="2986119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egistro de llegada de camiones y validación inicial de mercadería ingresada a la bodega.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807223" y="4882243"/>
            <a:ext cx="2986119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Ing</a:t>
            </a:r>
            <a:r>
              <a:rPr lang="en-US" sz="1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reso y validación de documentos asociados a la recepción de productos y pallets.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72607" y="4882243"/>
            <a:ext cx="2986119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Sepa</a:t>
            </a:r>
            <a:r>
              <a:rPr lang="en-US" sz="1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ración y apertura de cajas o pallets para clasificar productos individualmente.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37991" y="4882243"/>
            <a:ext cx="2986119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egistro y administración de productos mediante SKU, descripción y características logísticas.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51916" y="4882846"/>
            <a:ext cx="2986119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Asign</a:t>
            </a:r>
            <a:r>
              <a:rPr lang="en-US" sz="1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ación de ubicaciones físicas dentro de racks y zonas operacionales de la bodega.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082115" y="7208896"/>
            <a:ext cx="361292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sz="2400">
                <a:solidFill>
                  <a:srgbClr val="AE1B30"/>
                </a:solidFill>
                <a:latin typeface="Open Sauce"/>
                <a:ea typeface="Open Sauce"/>
                <a:cs typeface="Open Sauce"/>
                <a:sym typeface="Open Sauce"/>
              </a:rPr>
              <a:t>Movimiento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592961" y="7199307"/>
            <a:ext cx="361292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sz="2400">
                <a:solidFill>
                  <a:srgbClr val="AE1B30"/>
                </a:solidFill>
                <a:latin typeface="Open Sauce"/>
                <a:ea typeface="Open Sauce"/>
                <a:cs typeface="Open Sauce"/>
                <a:sym typeface="Open Sauce"/>
              </a:rPr>
              <a:t>Stock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230727" y="6770746"/>
            <a:ext cx="237978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7"/>
              </a:lnSpc>
            </a:pPr>
            <a:r>
              <a:rPr lang="en-US" sz="216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06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98686" y="6770746"/>
            <a:ext cx="237978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7"/>
              </a:lnSpc>
            </a:pPr>
            <a:r>
              <a:rPr lang="en-US" sz="216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07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030134" y="7815151"/>
            <a:ext cx="298611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</a:t>
            </a:r>
            <a:r>
              <a:rPr lang="en-US" sz="1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ntrol y actualización de cantidades disponibles de productos almacenados.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395518" y="7815151"/>
            <a:ext cx="2986119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Reg</a:t>
            </a:r>
            <a:r>
              <a:rPr lang="en-US" sz="1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istro de trazabilidad y control de movimientos internos dentro del warehouse.</a:t>
            </a:r>
          </a:p>
        </p:txBody>
      </p:sp>
      <p:sp>
        <p:nvSpPr>
          <p:cNvPr name="AutoShape 40" id="40"/>
          <p:cNvSpPr/>
          <p:nvPr/>
        </p:nvSpPr>
        <p:spPr>
          <a:xfrm>
            <a:off x="8187729" y="6920105"/>
            <a:ext cx="1943100" cy="0"/>
          </a:xfrm>
          <a:prstGeom prst="line">
            <a:avLst/>
          </a:prstGeom>
          <a:ln cap="rnd" w="28575">
            <a:solidFill>
              <a:srgbClr val="C2090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1" id="41"/>
          <p:cNvSpPr/>
          <p:nvPr/>
        </p:nvSpPr>
        <p:spPr>
          <a:xfrm>
            <a:off x="12780466" y="3871457"/>
            <a:ext cx="1819275" cy="0"/>
          </a:xfrm>
          <a:prstGeom prst="line">
            <a:avLst/>
          </a:prstGeom>
          <a:ln cap="rnd" w="28575">
            <a:solidFill>
              <a:srgbClr val="C2090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>
            <a:off x="9427666" y="3871457"/>
            <a:ext cx="1828800" cy="0"/>
          </a:xfrm>
          <a:prstGeom prst="line">
            <a:avLst/>
          </a:prstGeom>
          <a:ln cap="rnd" w="28575">
            <a:solidFill>
              <a:srgbClr val="C2090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3" id="43"/>
          <p:cNvSpPr/>
          <p:nvPr/>
        </p:nvSpPr>
        <p:spPr>
          <a:xfrm>
            <a:off x="6027241" y="3871457"/>
            <a:ext cx="1876425" cy="0"/>
          </a:xfrm>
          <a:prstGeom prst="line">
            <a:avLst/>
          </a:prstGeom>
          <a:ln cap="rnd" w="28575">
            <a:solidFill>
              <a:srgbClr val="C2090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4" id="44"/>
          <p:cNvSpPr/>
          <p:nvPr/>
        </p:nvSpPr>
        <p:spPr>
          <a:xfrm>
            <a:off x="2664916" y="3871457"/>
            <a:ext cx="1838325" cy="0"/>
          </a:xfrm>
          <a:prstGeom prst="line">
            <a:avLst/>
          </a:prstGeom>
          <a:ln cap="rnd" w="28575">
            <a:solidFill>
              <a:srgbClr val="C20909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43928" y="-3581757"/>
            <a:ext cx="6886812" cy="688681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825930" y="628890"/>
            <a:ext cx="982636" cy="799620"/>
          </a:xfrm>
          <a:custGeom>
            <a:avLst/>
            <a:gdLst/>
            <a:ahLst/>
            <a:cxnLst/>
            <a:rect r="r" b="b" t="t" l="l"/>
            <a:pathLst>
              <a:path h="799620" w="982636">
                <a:moveTo>
                  <a:pt x="982636" y="0"/>
                </a:moveTo>
                <a:lnTo>
                  <a:pt x="0" y="0"/>
                </a:lnTo>
                <a:lnTo>
                  <a:pt x="0" y="799620"/>
                </a:lnTo>
                <a:lnTo>
                  <a:pt x="982636" y="799620"/>
                </a:lnTo>
                <a:lnTo>
                  <a:pt x="9826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2362081" y="6909837"/>
            <a:ext cx="0" cy="896569"/>
          </a:xfrm>
          <a:prstGeom prst="line">
            <a:avLst/>
          </a:prstGeom>
          <a:ln cap="rnd" w="38100">
            <a:solidFill>
              <a:srgbClr val="555555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TextBox 7" id="7"/>
          <p:cNvSpPr txBox="true"/>
          <p:nvPr/>
        </p:nvSpPr>
        <p:spPr>
          <a:xfrm rot="0">
            <a:off x="1945652" y="974707"/>
            <a:ext cx="2539503" cy="288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3"/>
              </a:lnSpc>
            </a:pPr>
            <a:r>
              <a:rPr lang="en-US" b="true" sz="175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ROYAL LOGISTICS</a:t>
            </a:r>
          </a:p>
        </p:txBody>
      </p:sp>
      <p:sp>
        <p:nvSpPr>
          <p:cNvPr name="AutoShape 8" id="8"/>
          <p:cNvSpPr/>
          <p:nvPr/>
        </p:nvSpPr>
        <p:spPr>
          <a:xfrm flipH="true">
            <a:off x="1808566" y="6909837"/>
            <a:ext cx="0" cy="896569"/>
          </a:xfrm>
          <a:prstGeom prst="line">
            <a:avLst/>
          </a:prstGeom>
          <a:ln cap="rnd" w="38100">
            <a:solidFill>
              <a:srgbClr val="C2090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" id="9"/>
          <p:cNvSpPr/>
          <p:nvPr/>
        </p:nvSpPr>
        <p:spPr>
          <a:xfrm>
            <a:off x="730201" y="3955182"/>
            <a:ext cx="16891049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736738" y="7863160"/>
            <a:ext cx="2683604" cy="596357"/>
            <a:chOff x="0" y="0"/>
            <a:chExt cx="451485" cy="1003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1485" cy="100330"/>
            </a:xfrm>
            <a:custGeom>
              <a:avLst/>
              <a:gdLst/>
              <a:ahLst/>
              <a:cxnLst/>
              <a:rect r="r" b="b" t="t" l="l"/>
              <a:pathLst>
                <a:path h="100330" w="451485">
                  <a:moveTo>
                    <a:pt x="11540" y="0"/>
                  </a:moveTo>
                  <a:lnTo>
                    <a:pt x="439945" y="0"/>
                  </a:lnTo>
                  <a:cubicBezTo>
                    <a:pt x="443006" y="0"/>
                    <a:pt x="445941" y="1216"/>
                    <a:pt x="448105" y="3380"/>
                  </a:cubicBezTo>
                  <a:cubicBezTo>
                    <a:pt x="450269" y="5544"/>
                    <a:pt x="451485" y="8479"/>
                    <a:pt x="451485" y="11540"/>
                  </a:cubicBezTo>
                  <a:lnTo>
                    <a:pt x="451485" y="88790"/>
                  </a:lnTo>
                  <a:cubicBezTo>
                    <a:pt x="451485" y="91851"/>
                    <a:pt x="450269" y="94786"/>
                    <a:pt x="448105" y="96950"/>
                  </a:cubicBezTo>
                  <a:cubicBezTo>
                    <a:pt x="445941" y="99114"/>
                    <a:pt x="443006" y="100330"/>
                    <a:pt x="439945" y="100330"/>
                  </a:cubicBezTo>
                  <a:lnTo>
                    <a:pt x="11540" y="100330"/>
                  </a:lnTo>
                  <a:cubicBezTo>
                    <a:pt x="8479" y="100330"/>
                    <a:pt x="5544" y="99114"/>
                    <a:pt x="3380" y="96950"/>
                  </a:cubicBezTo>
                  <a:cubicBezTo>
                    <a:pt x="1216" y="94786"/>
                    <a:pt x="0" y="91851"/>
                    <a:pt x="0" y="88790"/>
                  </a:cubicBezTo>
                  <a:lnTo>
                    <a:pt x="0" y="11540"/>
                  </a:lnTo>
                  <a:cubicBezTo>
                    <a:pt x="0" y="8479"/>
                    <a:pt x="1216" y="5544"/>
                    <a:pt x="3380" y="3380"/>
                  </a:cubicBezTo>
                  <a:cubicBezTo>
                    <a:pt x="5544" y="1216"/>
                    <a:pt x="8479" y="0"/>
                    <a:pt x="11540" y="0"/>
                  </a:cubicBezTo>
                  <a:close/>
                </a:path>
              </a:pathLst>
            </a:custGeom>
            <a:solidFill>
              <a:srgbClr val="AE1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51485" cy="138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24950" y="3565256"/>
            <a:ext cx="0" cy="399450"/>
          </a:xfrm>
          <a:prstGeom prst="line">
            <a:avLst/>
          </a:prstGeom>
          <a:ln cap="rnd" w="38100">
            <a:solidFill>
              <a:srgbClr val="C2090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4" id="14"/>
          <p:cNvSpPr txBox="true"/>
          <p:nvPr/>
        </p:nvSpPr>
        <p:spPr>
          <a:xfrm rot="0">
            <a:off x="12906048" y="7726034"/>
            <a:ext cx="471520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Comunicación entre servicios: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06048" y="8088309"/>
            <a:ext cx="4715202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• </a:t>
            </a:r>
            <a:r>
              <a:rPr lang="en-US" sz="1800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Movimiento ↔ Producto</a:t>
            </a:r>
          </a:p>
          <a:p>
            <a:pPr algn="l">
              <a:lnSpc>
                <a:spcPts val="2700"/>
              </a:lnSpc>
            </a:pPr>
            <a:r>
              <a:rPr lang="en-US" sz="1800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• </a:t>
            </a:r>
            <a:r>
              <a:rPr lang="en-US" sz="1800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Movimiento ↔ Warehouse</a:t>
            </a:r>
          </a:p>
          <a:p>
            <a:pPr algn="l">
              <a:lnSpc>
                <a:spcPts val="2700"/>
              </a:lnSpc>
            </a:pPr>
            <a:r>
              <a:rPr lang="en-US" sz="1800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• </a:t>
            </a:r>
            <a:r>
              <a:rPr lang="en-US" sz="1800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Movimiento ↔ Desconsolidación</a:t>
            </a:r>
          </a:p>
          <a:p>
            <a:pPr algn="l">
              <a:lnSpc>
                <a:spcPts val="2700"/>
              </a:lnSpc>
            </a:pPr>
            <a:r>
              <a:rPr lang="en-US" sz="1800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• Movimiento ↔ Stock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28807" y="1495185"/>
            <a:ext cx="7030386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600" u="none">
                <a:solidFill>
                  <a:srgbClr val="C20909"/>
                </a:solidFill>
                <a:latin typeface="DM Sans Bold"/>
                <a:ea typeface="DM Sans Bold"/>
                <a:cs typeface="DM Sans Bold"/>
                <a:sym typeface="DM Sans Bold"/>
              </a:rPr>
              <a:t>Arquitectura de Microservicios</a:t>
            </a:r>
          </a:p>
        </p:txBody>
      </p:sp>
      <p:sp>
        <p:nvSpPr>
          <p:cNvPr name="AutoShape 17" id="17"/>
          <p:cNvSpPr/>
          <p:nvPr/>
        </p:nvSpPr>
        <p:spPr>
          <a:xfrm flipH="true">
            <a:off x="9144000" y="2676285"/>
            <a:ext cx="0" cy="409695"/>
          </a:xfrm>
          <a:prstGeom prst="line">
            <a:avLst/>
          </a:prstGeom>
          <a:ln cap="rnd" w="28575">
            <a:solidFill>
              <a:srgbClr val="C2090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8" id="18"/>
          <p:cNvGrpSpPr/>
          <p:nvPr/>
        </p:nvGrpSpPr>
        <p:grpSpPr>
          <a:xfrm rot="0">
            <a:off x="8001000" y="2285760"/>
            <a:ext cx="2286000" cy="419100"/>
            <a:chOff x="0" y="0"/>
            <a:chExt cx="601980" cy="1103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1980" cy="110363"/>
            </a:xfrm>
            <a:custGeom>
              <a:avLst/>
              <a:gdLst/>
              <a:ahLst/>
              <a:cxnLst/>
              <a:rect r="r" b="b" t="t" l="l"/>
              <a:pathLst>
                <a:path h="110363" w="601980">
                  <a:moveTo>
                    <a:pt x="13547" y="0"/>
                  </a:moveTo>
                  <a:lnTo>
                    <a:pt x="588433" y="0"/>
                  </a:lnTo>
                  <a:cubicBezTo>
                    <a:pt x="592026" y="0"/>
                    <a:pt x="595472" y="1427"/>
                    <a:pt x="598012" y="3968"/>
                  </a:cubicBezTo>
                  <a:cubicBezTo>
                    <a:pt x="600553" y="6508"/>
                    <a:pt x="601980" y="9954"/>
                    <a:pt x="601980" y="13547"/>
                  </a:cubicBezTo>
                  <a:lnTo>
                    <a:pt x="601980" y="96816"/>
                  </a:lnTo>
                  <a:cubicBezTo>
                    <a:pt x="601980" y="104298"/>
                    <a:pt x="595915" y="110363"/>
                    <a:pt x="588433" y="110363"/>
                  </a:cubicBezTo>
                  <a:lnTo>
                    <a:pt x="13547" y="110363"/>
                  </a:lnTo>
                  <a:cubicBezTo>
                    <a:pt x="6065" y="110363"/>
                    <a:pt x="0" y="104298"/>
                    <a:pt x="0" y="96816"/>
                  </a:cubicBezTo>
                  <a:lnTo>
                    <a:pt x="0" y="13547"/>
                  </a:lnTo>
                  <a:cubicBezTo>
                    <a:pt x="0" y="6065"/>
                    <a:pt x="6065" y="0"/>
                    <a:pt x="13547" y="0"/>
                  </a:cubicBezTo>
                  <a:close/>
                </a:path>
              </a:pathLst>
            </a:custGeom>
            <a:solidFill>
              <a:srgbClr val="C20909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01980" cy="14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001000" y="3085980"/>
            <a:ext cx="2286000" cy="419100"/>
            <a:chOff x="0" y="0"/>
            <a:chExt cx="601980" cy="1103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1980" cy="110363"/>
            </a:xfrm>
            <a:custGeom>
              <a:avLst/>
              <a:gdLst/>
              <a:ahLst/>
              <a:cxnLst/>
              <a:rect r="r" b="b" t="t" l="l"/>
              <a:pathLst>
                <a:path h="110363" w="601980">
                  <a:moveTo>
                    <a:pt x="13547" y="0"/>
                  </a:moveTo>
                  <a:lnTo>
                    <a:pt x="588433" y="0"/>
                  </a:lnTo>
                  <a:cubicBezTo>
                    <a:pt x="592026" y="0"/>
                    <a:pt x="595472" y="1427"/>
                    <a:pt x="598012" y="3968"/>
                  </a:cubicBezTo>
                  <a:cubicBezTo>
                    <a:pt x="600553" y="6508"/>
                    <a:pt x="601980" y="9954"/>
                    <a:pt x="601980" y="13547"/>
                  </a:cubicBezTo>
                  <a:lnTo>
                    <a:pt x="601980" y="96816"/>
                  </a:lnTo>
                  <a:cubicBezTo>
                    <a:pt x="601980" y="104298"/>
                    <a:pt x="595915" y="110363"/>
                    <a:pt x="588433" y="110363"/>
                  </a:cubicBezTo>
                  <a:lnTo>
                    <a:pt x="13547" y="110363"/>
                  </a:lnTo>
                  <a:cubicBezTo>
                    <a:pt x="6065" y="110363"/>
                    <a:pt x="0" y="104298"/>
                    <a:pt x="0" y="96816"/>
                  </a:cubicBezTo>
                  <a:lnTo>
                    <a:pt x="0" y="13547"/>
                  </a:lnTo>
                  <a:cubicBezTo>
                    <a:pt x="0" y="6065"/>
                    <a:pt x="6065" y="0"/>
                    <a:pt x="13547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01980" cy="14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36738" y="4729296"/>
            <a:ext cx="2568145" cy="676040"/>
            <a:chOff x="0" y="0"/>
            <a:chExt cx="381134" cy="100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134" cy="100330"/>
            </a:xfrm>
            <a:custGeom>
              <a:avLst/>
              <a:gdLst/>
              <a:ahLst/>
              <a:cxnLst/>
              <a:rect r="r" b="b" t="t" l="l"/>
              <a:pathLst>
                <a:path h="100330" w="381134">
                  <a:moveTo>
                    <a:pt x="12058" y="0"/>
                  </a:moveTo>
                  <a:lnTo>
                    <a:pt x="369076" y="0"/>
                  </a:lnTo>
                  <a:cubicBezTo>
                    <a:pt x="372274" y="0"/>
                    <a:pt x="375341" y="1270"/>
                    <a:pt x="377602" y="3532"/>
                  </a:cubicBezTo>
                  <a:cubicBezTo>
                    <a:pt x="379864" y="5793"/>
                    <a:pt x="381134" y="8860"/>
                    <a:pt x="381134" y="12058"/>
                  </a:cubicBezTo>
                  <a:lnTo>
                    <a:pt x="381134" y="88272"/>
                  </a:lnTo>
                  <a:cubicBezTo>
                    <a:pt x="381134" y="91470"/>
                    <a:pt x="379864" y="94537"/>
                    <a:pt x="377602" y="96798"/>
                  </a:cubicBezTo>
                  <a:cubicBezTo>
                    <a:pt x="375341" y="99060"/>
                    <a:pt x="372274" y="100330"/>
                    <a:pt x="369076" y="100330"/>
                  </a:cubicBezTo>
                  <a:lnTo>
                    <a:pt x="12058" y="100330"/>
                  </a:lnTo>
                  <a:cubicBezTo>
                    <a:pt x="8860" y="100330"/>
                    <a:pt x="5793" y="99060"/>
                    <a:pt x="3532" y="96798"/>
                  </a:cubicBezTo>
                  <a:cubicBezTo>
                    <a:pt x="1270" y="94537"/>
                    <a:pt x="0" y="91470"/>
                    <a:pt x="0" y="88272"/>
                  </a:cubicBezTo>
                  <a:lnTo>
                    <a:pt x="0" y="12058"/>
                  </a:lnTo>
                  <a:cubicBezTo>
                    <a:pt x="0" y="8860"/>
                    <a:pt x="1270" y="5793"/>
                    <a:pt x="3532" y="3532"/>
                  </a:cubicBezTo>
                  <a:cubicBezTo>
                    <a:pt x="5793" y="1270"/>
                    <a:pt x="8860" y="0"/>
                    <a:pt x="12058" y="0"/>
                  </a:cubicBezTo>
                  <a:close/>
                </a:path>
              </a:pathLst>
            </a:custGeom>
            <a:solidFill>
              <a:srgbClr val="AE1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81134" cy="128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8096250" y="2381010"/>
            <a:ext cx="209550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7"/>
              </a:lnSpc>
              <a:spcBef>
                <a:spcPct val="0"/>
              </a:spcBef>
            </a:pPr>
            <a:r>
              <a:rPr lang="en-US" b="true" sz="2247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API Gateway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96250" y="3181230"/>
            <a:ext cx="209550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7"/>
              </a:lnSpc>
              <a:spcBef>
                <a:spcPct val="0"/>
              </a:spcBef>
            </a:pPr>
            <a:r>
              <a:rPr lang="en-US" b="true" sz="2247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Eureka Server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0942" y="4877905"/>
            <a:ext cx="2439737" cy="43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89"/>
              </a:lnSpc>
              <a:spcBef>
                <a:spcPct val="0"/>
              </a:spcBef>
            </a:pPr>
            <a:r>
              <a:rPr lang="en-US" b="true" sz="3289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Recepción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11283" y="7980351"/>
            <a:ext cx="2534515" cy="4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Movimiento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336767" y="4729296"/>
            <a:ext cx="2568145" cy="676040"/>
            <a:chOff x="0" y="0"/>
            <a:chExt cx="381134" cy="10033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1134" cy="100330"/>
            </a:xfrm>
            <a:custGeom>
              <a:avLst/>
              <a:gdLst/>
              <a:ahLst/>
              <a:cxnLst/>
              <a:rect r="r" b="b" t="t" l="l"/>
              <a:pathLst>
                <a:path h="100330" w="381134">
                  <a:moveTo>
                    <a:pt x="12058" y="0"/>
                  </a:moveTo>
                  <a:lnTo>
                    <a:pt x="369076" y="0"/>
                  </a:lnTo>
                  <a:cubicBezTo>
                    <a:pt x="372274" y="0"/>
                    <a:pt x="375341" y="1270"/>
                    <a:pt x="377602" y="3532"/>
                  </a:cubicBezTo>
                  <a:cubicBezTo>
                    <a:pt x="379864" y="5793"/>
                    <a:pt x="381134" y="8860"/>
                    <a:pt x="381134" y="12058"/>
                  </a:cubicBezTo>
                  <a:lnTo>
                    <a:pt x="381134" y="88272"/>
                  </a:lnTo>
                  <a:cubicBezTo>
                    <a:pt x="381134" y="91470"/>
                    <a:pt x="379864" y="94537"/>
                    <a:pt x="377602" y="96798"/>
                  </a:cubicBezTo>
                  <a:cubicBezTo>
                    <a:pt x="375341" y="99060"/>
                    <a:pt x="372274" y="100330"/>
                    <a:pt x="369076" y="100330"/>
                  </a:cubicBezTo>
                  <a:lnTo>
                    <a:pt x="12058" y="100330"/>
                  </a:lnTo>
                  <a:cubicBezTo>
                    <a:pt x="8860" y="100330"/>
                    <a:pt x="5793" y="99060"/>
                    <a:pt x="3532" y="96798"/>
                  </a:cubicBezTo>
                  <a:cubicBezTo>
                    <a:pt x="1270" y="94537"/>
                    <a:pt x="0" y="91470"/>
                    <a:pt x="0" y="88272"/>
                  </a:cubicBezTo>
                  <a:lnTo>
                    <a:pt x="0" y="12058"/>
                  </a:lnTo>
                  <a:cubicBezTo>
                    <a:pt x="0" y="8860"/>
                    <a:pt x="1270" y="5793"/>
                    <a:pt x="3532" y="3532"/>
                  </a:cubicBezTo>
                  <a:cubicBezTo>
                    <a:pt x="5793" y="1270"/>
                    <a:pt x="8860" y="0"/>
                    <a:pt x="12058" y="0"/>
                  </a:cubicBezTo>
                  <a:close/>
                </a:path>
              </a:pathLst>
            </a:custGeom>
            <a:solidFill>
              <a:srgbClr val="AE1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81134" cy="128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400971" y="4877905"/>
            <a:ext cx="2439737" cy="43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89"/>
              </a:lnSpc>
              <a:spcBef>
                <a:spcPct val="0"/>
              </a:spcBef>
            </a:pPr>
            <a:r>
              <a:rPr lang="en-US" b="true" sz="328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Factura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840878" y="4704279"/>
            <a:ext cx="2568145" cy="676040"/>
            <a:chOff x="0" y="0"/>
            <a:chExt cx="381134" cy="10033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1134" cy="100330"/>
            </a:xfrm>
            <a:custGeom>
              <a:avLst/>
              <a:gdLst/>
              <a:ahLst/>
              <a:cxnLst/>
              <a:rect r="r" b="b" t="t" l="l"/>
              <a:pathLst>
                <a:path h="100330" w="381134">
                  <a:moveTo>
                    <a:pt x="12058" y="0"/>
                  </a:moveTo>
                  <a:lnTo>
                    <a:pt x="369076" y="0"/>
                  </a:lnTo>
                  <a:cubicBezTo>
                    <a:pt x="372274" y="0"/>
                    <a:pt x="375341" y="1270"/>
                    <a:pt x="377602" y="3532"/>
                  </a:cubicBezTo>
                  <a:cubicBezTo>
                    <a:pt x="379864" y="5793"/>
                    <a:pt x="381134" y="8860"/>
                    <a:pt x="381134" y="12058"/>
                  </a:cubicBezTo>
                  <a:lnTo>
                    <a:pt x="381134" y="88272"/>
                  </a:lnTo>
                  <a:cubicBezTo>
                    <a:pt x="381134" y="91470"/>
                    <a:pt x="379864" y="94537"/>
                    <a:pt x="377602" y="96798"/>
                  </a:cubicBezTo>
                  <a:cubicBezTo>
                    <a:pt x="375341" y="99060"/>
                    <a:pt x="372274" y="100330"/>
                    <a:pt x="369076" y="100330"/>
                  </a:cubicBezTo>
                  <a:lnTo>
                    <a:pt x="12058" y="100330"/>
                  </a:lnTo>
                  <a:cubicBezTo>
                    <a:pt x="8860" y="100330"/>
                    <a:pt x="5793" y="99060"/>
                    <a:pt x="3532" y="96798"/>
                  </a:cubicBezTo>
                  <a:cubicBezTo>
                    <a:pt x="1270" y="94537"/>
                    <a:pt x="0" y="91470"/>
                    <a:pt x="0" y="88272"/>
                  </a:cubicBezTo>
                  <a:lnTo>
                    <a:pt x="0" y="12058"/>
                  </a:lnTo>
                  <a:cubicBezTo>
                    <a:pt x="0" y="8860"/>
                    <a:pt x="1270" y="5793"/>
                    <a:pt x="3532" y="3532"/>
                  </a:cubicBezTo>
                  <a:cubicBezTo>
                    <a:pt x="5793" y="1270"/>
                    <a:pt x="8860" y="0"/>
                    <a:pt x="12058" y="0"/>
                  </a:cubicBezTo>
                  <a:close/>
                </a:path>
              </a:pathLst>
            </a:custGeom>
            <a:solidFill>
              <a:srgbClr val="AE1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381134" cy="128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7905081" y="4852888"/>
            <a:ext cx="2439737" cy="43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89"/>
              </a:lnSpc>
              <a:spcBef>
                <a:spcPct val="0"/>
              </a:spcBef>
            </a:pPr>
            <a:r>
              <a:rPr lang="en-US" b="true" sz="328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Producto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5077822" y="4729296"/>
            <a:ext cx="2568145" cy="676040"/>
            <a:chOff x="0" y="0"/>
            <a:chExt cx="381134" cy="10033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81134" cy="100330"/>
            </a:xfrm>
            <a:custGeom>
              <a:avLst/>
              <a:gdLst/>
              <a:ahLst/>
              <a:cxnLst/>
              <a:rect r="r" b="b" t="t" l="l"/>
              <a:pathLst>
                <a:path h="100330" w="381134">
                  <a:moveTo>
                    <a:pt x="12058" y="0"/>
                  </a:moveTo>
                  <a:lnTo>
                    <a:pt x="369076" y="0"/>
                  </a:lnTo>
                  <a:cubicBezTo>
                    <a:pt x="372274" y="0"/>
                    <a:pt x="375341" y="1270"/>
                    <a:pt x="377602" y="3532"/>
                  </a:cubicBezTo>
                  <a:cubicBezTo>
                    <a:pt x="379864" y="5793"/>
                    <a:pt x="381134" y="8860"/>
                    <a:pt x="381134" y="12058"/>
                  </a:cubicBezTo>
                  <a:lnTo>
                    <a:pt x="381134" y="88272"/>
                  </a:lnTo>
                  <a:cubicBezTo>
                    <a:pt x="381134" y="91470"/>
                    <a:pt x="379864" y="94537"/>
                    <a:pt x="377602" y="96798"/>
                  </a:cubicBezTo>
                  <a:cubicBezTo>
                    <a:pt x="375341" y="99060"/>
                    <a:pt x="372274" y="100330"/>
                    <a:pt x="369076" y="100330"/>
                  </a:cubicBezTo>
                  <a:lnTo>
                    <a:pt x="12058" y="100330"/>
                  </a:lnTo>
                  <a:cubicBezTo>
                    <a:pt x="8860" y="100330"/>
                    <a:pt x="5793" y="99060"/>
                    <a:pt x="3532" y="96798"/>
                  </a:cubicBezTo>
                  <a:cubicBezTo>
                    <a:pt x="1270" y="94537"/>
                    <a:pt x="0" y="91470"/>
                    <a:pt x="0" y="88272"/>
                  </a:cubicBezTo>
                  <a:lnTo>
                    <a:pt x="0" y="12058"/>
                  </a:lnTo>
                  <a:cubicBezTo>
                    <a:pt x="0" y="8860"/>
                    <a:pt x="1270" y="5793"/>
                    <a:pt x="3532" y="3532"/>
                  </a:cubicBezTo>
                  <a:cubicBezTo>
                    <a:pt x="5793" y="1270"/>
                    <a:pt x="8860" y="0"/>
                    <a:pt x="12058" y="0"/>
                  </a:cubicBezTo>
                  <a:close/>
                </a:path>
              </a:pathLst>
            </a:custGeom>
            <a:solidFill>
              <a:srgbClr val="AE1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381134" cy="128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5142026" y="4877905"/>
            <a:ext cx="2439737" cy="43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89"/>
              </a:lnSpc>
              <a:spcBef>
                <a:spcPct val="0"/>
              </a:spcBef>
            </a:pPr>
            <a:r>
              <a:rPr lang="en-US" b="true" sz="328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Stock</a:t>
            </a:r>
          </a:p>
        </p:txBody>
      </p:sp>
      <p:sp>
        <p:nvSpPr>
          <p:cNvPr name="AutoShape 43" id="43"/>
          <p:cNvSpPr/>
          <p:nvPr/>
        </p:nvSpPr>
        <p:spPr>
          <a:xfrm>
            <a:off x="2050793" y="3989724"/>
            <a:ext cx="0" cy="714555"/>
          </a:xfrm>
          <a:prstGeom prst="line">
            <a:avLst/>
          </a:prstGeom>
          <a:ln cap="rnd" w="38100">
            <a:solidFill>
              <a:srgbClr val="C2090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4" id="44"/>
          <p:cNvSpPr/>
          <p:nvPr/>
        </p:nvSpPr>
        <p:spPr>
          <a:xfrm>
            <a:off x="5601790" y="3989724"/>
            <a:ext cx="0" cy="714555"/>
          </a:xfrm>
          <a:prstGeom prst="line">
            <a:avLst/>
          </a:prstGeom>
          <a:ln cap="rnd" w="38100">
            <a:solidFill>
              <a:srgbClr val="C2090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5" id="45"/>
          <p:cNvSpPr/>
          <p:nvPr/>
        </p:nvSpPr>
        <p:spPr>
          <a:xfrm>
            <a:off x="9144000" y="4012332"/>
            <a:ext cx="0" cy="714555"/>
          </a:xfrm>
          <a:prstGeom prst="line">
            <a:avLst/>
          </a:prstGeom>
          <a:ln cap="rnd" w="38100">
            <a:solidFill>
              <a:srgbClr val="C2090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6" id="46"/>
          <p:cNvSpPr/>
          <p:nvPr/>
        </p:nvSpPr>
        <p:spPr>
          <a:xfrm>
            <a:off x="13026595" y="4014741"/>
            <a:ext cx="0" cy="714555"/>
          </a:xfrm>
          <a:prstGeom prst="line">
            <a:avLst/>
          </a:prstGeom>
          <a:ln cap="rnd" w="38100">
            <a:solidFill>
              <a:srgbClr val="C2090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7" id="47"/>
          <p:cNvSpPr/>
          <p:nvPr/>
        </p:nvSpPr>
        <p:spPr>
          <a:xfrm>
            <a:off x="16380944" y="4012332"/>
            <a:ext cx="0" cy="714555"/>
          </a:xfrm>
          <a:prstGeom prst="line">
            <a:avLst/>
          </a:prstGeom>
          <a:ln cap="rnd" w="38100">
            <a:solidFill>
              <a:srgbClr val="C2090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8" id="48"/>
          <p:cNvSpPr/>
          <p:nvPr/>
        </p:nvSpPr>
        <p:spPr>
          <a:xfrm>
            <a:off x="2020811" y="5433911"/>
            <a:ext cx="0" cy="714555"/>
          </a:xfrm>
          <a:prstGeom prst="line">
            <a:avLst/>
          </a:prstGeom>
          <a:ln cap="rnd" w="38100">
            <a:solidFill>
              <a:srgbClr val="C2090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9" id="49"/>
          <p:cNvGrpSpPr/>
          <p:nvPr/>
        </p:nvGrpSpPr>
        <p:grpSpPr>
          <a:xfrm rot="0">
            <a:off x="196011" y="6177042"/>
            <a:ext cx="3859724" cy="676040"/>
            <a:chOff x="0" y="0"/>
            <a:chExt cx="572815" cy="10033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72815" cy="100330"/>
            </a:xfrm>
            <a:custGeom>
              <a:avLst/>
              <a:gdLst/>
              <a:ahLst/>
              <a:cxnLst/>
              <a:rect r="r" b="b" t="t" l="l"/>
              <a:pathLst>
                <a:path h="100330" w="572815">
                  <a:moveTo>
                    <a:pt x="8023" y="0"/>
                  </a:moveTo>
                  <a:lnTo>
                    <a:pt x="564792" y="0"/>
                  </a:lnTo>
                  <a:cubicBezTo>
                    <a:pt x="569223" y="0"/>
                    <a:pt x="572815" y="3592"/>
                    <a:pt x="572815" y="8023"/>
                  </a:cubicBezTo>
                  <a:lnTo>
                    <a:pt x="572815" y="92307"/>
                  </a:lnTo>
                  <a:cubicBezTo>
                    <a:pt x="572815" y="94435"/>
                    <a:pt x="571970" y="96475"/>
                    <a:pt x="570465" y="97980"/>
                  </a:cubicBezTo>
                  <a:cubicBezTo>
                    <a:pt x="568961" y="99485"/>
                    <a:pt x="566920" y="100330"/>
                    <a:pt x="564792" y="100330"/>
                  </a:cubicBezTo>
                  <a:lnTo>
                    <a:pt x="8023" y="100330"/>
                  </a:lnTo>
                  <a:cubicBezTo>
                    <a:pt x="3592" y="100330"/>
                    <a:pt x="0" y="96738"/>
                    <a:pt x="0" y="92307"/>
                  </a:cubicBezTo>
                  <a:lnTo>
                    <a:pt x="0" y="8023"/>
                  </a:lnTo>
                  <a:cubicBezTo>
                    <a:pt x="0" y="5895"/>
                    <a:pt x="845" y="3855"/>
                    <a:pt x="2350" y="2350"/>
                  </a:cubicBezTo>
                  <a:cubicBezTo>
                    <a:pt x="3855" y="845"/>
                    <a:pt x="5895" y="0"/>
                    <a:pt x="8023" y="0"/>
                  </a:cubicBezTo>
                  <a:close/>
                </a:path>
              </a:pathLst>
            </a:custGeom>
            <a:solidFill>
              <a:srgbClr val="AE1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572815" cy="128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243344" y="6349645"/>
            <a:ext cx="3765058" cy="43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89"/>
              </a:lnSpc>
              <a:spcBef>
                <a:spcPct val="0"/>
              </a:spcBef>
            </a:pPr>
            <a:r>
              <a:rPr lang="en-US" b="true" sz="328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Desconsolidación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1621975" y="4729296"/>
            <a:ext cx="2725921" cy="676040"/>
            <a:chOff x="0" y="0"/>
            <a:chExt cx="404549" cy="10033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4549" cy="100330"/>
            </a:xfrm>
            <a:custGeom>
              <a:avLst/>
              <a:gdLst/>
              <a:ahLst/>
              <a:cxnLst/>
              <a:rect r="r" b="b" t="t" l="l"/>
              <a:pathLst>
                <a:path h="100330" w="404549">
                  <a:moveTo>
                    <a:pt x="11360" y="0"/>
                  </a:moveTo>
                  <a:lnTo>
                    <a:pt x="393189" y="0"/>
                  </a:lnTo>
                  <a:cubicBezTo>
                    <a:pt x="396202" y="0"/>
                    <a:pt x="399092" y="1197"/>
                    <a:pt x="401222" y="3327"/>
                  </a:cubicBezTo>
                  <a:cubicBezTo>
                    <a:pt x="403353" y="5458"/>
                    <a:pt x="404549" y="8347"/>
                    <a:pt x="404549" y="11360"/>
                  </a:cubicBezTo>
                  <a:lnTo>
                    <a:pt x="404549" y="88970"/>
                  </a:lnTo>
                  <a:cubicBezTo>
                    <a:pt x="404549" y="91983"/>
                    <a:pt x="403353" y="94872"/>
                    <a:pt x="401222" y="97003"/>
                  </a:cubicBezTo>
                  <a:cubicBezTo>
                    <a:pt x="399092" y="99133"/>
                    <a:pt x="396202" y="100330"/>
                    <a:pt x="393189" y="100330"/>
                  </a:cubicBezTo>
                  <a:lnTo>
                    <a:pt x="11360" y="100330"/>
                  </a:lnTo>
                  <a:cubicBezTo>
                    <a:pt x="8347" y="100330"/>
                    <a:pt x="5458" y="99133"/>
                    <a:pt x="3327" y="97003"/>
                  </a:cubicBezTo>
                  <a:cubicBezTo>
                    <a:pt x="1197" y="94872"/>
                    <a:pt x="0" y="91983"/>
                    <a:pt x="0" y="88970"/>
                  </a:cubicBezTo>
                  <a:lnTo>
                    <a:pt x="0" y="11360"/>
                  </a:lnTo>
                  <a:cubicBezTo>
                    <a:pt x="0" y="8347"/>
                    <a:pt x="1197" y="5458"/>
                    <a:pt x="3327" y="3327"/>
                  </a:cubicBezTo>
                  <a:cubicBezTo>
                    <a:pt x="5458" y="1197"/>
                    <a:pt x="8347" y="0"/>
                    <a:pt x="11360" y="0"/>
                  </a:cubicBezTo>
                  <a:close/>
                </a:path>
              </a:pathLst>
            </a:custGeom>
            <a:solidFill>
              <a:srgbClr val="AE1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404549" cy="128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6" id="56"/>
          <p:cNvSpPr/>
          <p:nvPr/>
        </p:nvSpPr>
        <p:spPr>
          <a:xfrm flipH="true">
            <a:off x="3515009" y="5405336"/>
            <a:ext cx="9530636" cy="2850443"/>
          </a:xfrm>
          <a:prstGeom prst="line">
            <a:avLst/>
          </a:prstGeom>
          <a:ln cap="rnd" w="38100">
            <a:solidFill>
              <a:srgbClr val="555555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TextBox 57" id="57"/>
          <p:cNvSpPr txBox="true"/>
          <p:nvPr/>
        </p:nvSpPr>
        <p:spPr>
          <a:xfrm rot="0">
            <a:off x="11750383" y="4877905"/>
            <a:ext cx="2439737" cy="43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89"/>
              </a:lnSpc>
              <a:spcBef>
                <a:spcPct val="0"/>
              </a:spcBef>
            </a:pPr>
            <a:r>
              <a:rPr lang="en-US" b="true" sz="328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Warehouse</a:t>
            </a:r>
          </a:p>
        </p:txBody>
      </p:sp>
      <p:sp>
        <p:nvSpPr>
          <p:cNvPr name="AutoShape 58" id="58"/>
          <p:cNvSpPr/>
          <p:nvPr/>
        </p:nvSpPr>
        <p:spPr>
          <a:xfrm flipH="true">
            <a:off x="3427795" y="5380319"/>
            <a:ext cx="5697155" cy="2595623"/>
          </a:xfrm>
          <a:prstGeom prst="line">
            <a:avLst/>
          </a:prstGeom>
          <a:ln cap="rnd" w="38100">
            <a:solidFill>
              <a:srgbClr val="555555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AutoShape 59" id="59"/>
          <p:cNvSpPr/>
          <p:nvPr/>
        </p:nvSpPr>
        <p:spPr>
          <a:xfrm flipH="true">
            <a:off x="3420063" y="5507449"/>
            <a:ext cx="12859312" cy="2918606"/>
          </a:xfrm>
          <a:prstGeom prst="line">
            <a:avLst/>
          </a:prstGeom>
          <a:ln cap="rnd" w="38100">
            <a:solidFill>
              <a:srgbClr val="555555"/>
            </a:solidFill>
            <a:prstDash val="solid"/>
            <a:headEnd type="triangle" len="med" w="lg"/>
            <a:tailEnd type="triangle" len="med" w="lg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43928" y="-3581757"/>
            <a:ext cx="6886812" cy="688681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825930" y="628890"/>
            <a:ext cx="982636" cy="799620"/>
          </a:xfrm>
          <a:custGeom>
            <a:avLst/>
            <a:gdLst/>
            <a:ahLst/>
            <a:cxnLst/>
            <a:rect r="r" b="b" t="t" l="l"/>
            <a:pathLst>
              <a:path h="799620" w="982636">
                <a:moveTo>
                  <a:pt x="982636" y="0"/>
                </a:moveTo>
                <a:lnTo>
                  <a:pt x="0" y="0"/>
                </a:lnTo>
                <a:lnTo>
                  <a:pt x="0" y="799620"/>
                </a:lnTo>
                <a:lnTo>
                  <a:pt x="982636" y="799620"/>
                </a:lnTo>
                <a:lnTo>
                  <a:pt x="9826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45652" y="1428510"/>
            <a:ext cx="13766321" cy="8953371"/>
          </a:xfrm>
          <a:custGeom>
            <a:avLst/>
            <a:gdLst/>
            <a:ahLst/>
            <a:cxnLst/>
            <a:rect r="r" b="b" t="t" l="l"/>
            <a:pathLst>
              <a:path h="8953371" w="13766321">
                <a:moveTo>
                  <a:pt x="0" y="0"/>
                </a:moveTo>
                <a:lnTo>
                  <a:pt x="13766322" y="0"/>
                </a:lnTo>
                <a:lnTo>
                  <a:pt x="13766322" y="8953371"/>
                </a:lnTo>
                <a:lnTo>
                  <a:pt x="0" y="89533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51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45652" y="974707"/>
            <a:ext cx="2539503" cy="288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3"/>
              </a:lnSpc>
            </a:pPr>
            <a:r>
              <a:rPr lang="en-US" b="true" sz="175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ROYAL LOGISTICS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28807" y="651365"/>
            <a:ext cx="7030386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600">
                <a:solidFill>
                  <a:srgbClr val="C20909"/>
                </a:solidFill>
                <a:latin typeface="DM Sans Bold"/>
                <a:ea typeface="DM Sans Bold"/>
                <a:cs typeface="DM Sans Bold"/>
                <a:sym typeface="DM Sans Bold"/>
              </a:rPr>
              <a:t>Modelado de base de datos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39568" y="-3820836"/>
            <a:ext cx="7641673" cy="76416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825930" y="628890"/>
            <a:ext cx="982636" cy="799620"/>
          </a:xfrm>
          <a:custGeom>
            <a:avLst/>
            <a:gdLst/>
            <a:ahLst/>
            <a:cxnLst/>
            <a:rect r="r" b="b" t="t" l="l"/>
            <a:pathLst>
              <a:path h="799620" w="982636">
                <a:moveTo>
                  <a:pt x="982636" y="0"/>
                </a:moveTo>
                <a:lnTo>
                  <a:pt x="0" y="0"/>
                </a:lnTo>
                <a:lnTo>
                  <a:pt x="0" y="799620"/>
                </a:lnTo>
                <a:lnTo>
                  <a:pt x="982636" y="799620"/>
                </a:lnTo>
                <a:lnTo>
                  <a:pt x="9826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29875" y="992537"/>
            <a:ext cx="2539503" cy="288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3"/>
              </a:lnSpc>
            </a:pPr>
            <a:r>
              <a:rPr lang="en-US" b="true" sz="175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ROYAL LOGISTICS</a:t>
            </a:r>
          </a:p>
        </p:txBody>
      </p:sp>
      <p:sp>
        <p:nvSpPr>
          <p:cNvPr name="AutoShape 7" id="7"/>
          <p:cNvSpPr/>
          <p:nvPr/>
        </p:nvSpPr>
        <p:spPr>
          <a:xfrm>
            <a:off x="9667875" y="6715125"/>
            <a:ext cx="2857500" cy="0"/>
          </a:xfrm>
          <a:prstGeom prst="line">
            <a:avLst/>
          </a:prstGeom>
          <a:ln cap="rnd" w="9525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5762625" y="6715125"/>
            <a:ext cx="2857500" cy="0"/>
          </a:xfrm>
          <a:prstGeom prst="line">
            <a:avLst/>
          </a:prstGeom>
          <a:ln cap="rnd" w="9525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667875" y="3000375"/>
            <a:ext cx="2857500" cy="0"/>
          </a:xfrm>
          <a:prstGeom prst="line">
            <a:avLst/>
          </a:prstGeom>
          <a:ln cap="rnd" w="9525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5762625" y="3000375"/>
            <a:ext cx="2857500" cy="0"/>
          </a:xfrm>
          <a:prstGeom prst="line">
            <a:avLst/>
          </a:prstGeom>
          <a:ln cap="rnd" w="9525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5381625" y="2381250"/>
            <a:ext cx="3619500" cy="3429000"/>
            <a:chOff x="0" y="0"/>
            <a:chExt cx="953135" cy="9029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3135" cy="902970"/>
            </a:xfrm>
            <a:custGeom>
              <a:avLst/>
              <a:gdLst/>
              <a:ahLst/>
              <a:cxnLst/>
              <a:rect r="r" b="b" t="t" l="l"/>
              <a:pathLst>
                <a:path h="902970" w="953135">
                  <a:moveTo>
                    <a:pt x="77002" y="0"/>
                  </a:moveTo>
                  <a:lnTo>
                    <a:pt x="876133" y="0"/>
                  </a:lnTo>
                  <a:cubicBezTo>
                    <a:pt x="896555" y="0"/>
                    <a:pt x="916141" y="8113"/>
                    <a:pt x="930582" y="22553"/>
                  </a:cubicBezTo>
                  <a:cubicBezTo>
                    <a:pt x="945022" y="36994"/>
                    <a:pt x="953135" y="56580"/>
                    <a:pt x="953135" y="77002"/>
                  </a:cubicBezTo>
                  <a:lnTo>
                    <a:pt x="953135" y="825968"/>
                  </a:lnTo>
                  <a:cubicBezTo>
                    <a:pt x="953135" y="846390"/>
                    <a:pt x="945022" y="865976"/>
                    <a:pt x="930582" y="880417"/>
                  </a:cubicBezTo>
                  <a:cubicBezTo>
                    <a:pt x="916141" y="894857"/>
                    <a:pt x="896555" y="902970"/>
                    <a:pt x="876133" y="902970"/>
                  </a:cubicBezTo>
                  <a:lnTo>
                    <a:pt x="77002" y="902970"/>
                  </a:lnTo>
                  <a:cubicBezTo>
                    <a:pt x="56580" y="902970"/>
                    <a:pt x="36994" y="894857"/>
                    <a:pt x="22553" y="880417"/>
                  </a:cubicBezTo>
                  <a:cubicBezTo>
                    <a:pt x="8113" y="865976"/>
                    <a:pt x="0" y="846390"/>
                    <a:pt x="0" y="825968"/>
                  </a:cubicBezTo>
                  <a:lnTo>
                    <a:pt x="0" y="77002"/>
                  </a:lnTo>
                  <a:cubicBezTo>
                    <a:pt x="0" y="56580"/>
                    <a:pt x="8113" y="36994"/>
                    <a:pt x="22553" y="22553"/>
                  </a:cubicBezTo>
                  <a:cubicBezTo>
                    <a:pt x="36994" y="8113"/>
                    <a:pt x="56580" y="0"/>
                    <a:pt x="7700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53135" cy="941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86875" y="2381250"/>
            <a:ext cx="3619500" cy="3429000"/>
            <a:chOff x="0" y="0"/>
            <a:chExt cx="953135" cy="9029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3135" cy="902970"/>
            </a:xfrm>
            <a:custGeom>
              <a:avLst/>
              <a:gdLst/>
              <a:ahLst/>
              <a:cxnLst/>
              <a:rect r="r" b="b" t="t" l="l"/>
              <a:pathLst>
                <a:path h="902970" w="953135">
                  <a:moveTo>
                    <a:pt x="77002" y="0"/>
                  </a:moveTo>
                  <a:lnTo>
                    <a:pt x="876133" y="0"/>
                  </a:lnTo>
                  <a:cubicBezTo>
                    <a:pt x="896555" y="0"/>
                    <a:pt x="916141" y="8113"/>
                    <a:pt x="930582" y="22553"/>
                  </a:cubicBezTo>
                  <a:cubicBezTo>
                    <a:pt x="945022" y="36994"/>
                    <a:pt x="953135" y="56580"/>
                    <a:pt x="953135" y="77002"/>
                  </a:cubicBezTo>
                  <a:lnTo>
                    <a:pt x="953135" y="825968"/>
                  </a:lnTo>
                  <a:cubicBezTo>
                    <a:pt x="953135" y="846390"/>
                    <a:pt x="945022" y="865976"/>
                    <a:pt x="930582" y="880417"/>
                  </a:cubicBezTo>
                  <a:cubicBezTo>
                    <a:pt x="916141" y="894857"/>
                    <a:pt x="896555" y="902970"/>
                    <a:pt x="876133" y="902970"/>
                  </a:cubicBezTo>
                  <a:lnTo>
                    <a:pt x="77002" y="902970"/>
                  </a:lnTo>
                  <a:cubicBezTo>
                    <a:pt x="56580" y="902970"/>
                    <a:pt x="36994" y="894857"/>
                    <a:pt x="22553" y="880417"/>
                  </a:cubicBezTo>
                  <a:cubicBezTo>
                    <a:pt x="8113" y="865976"/>
                    <a:pt x="0" y="846390"/>
                    <a:pt x="0" y="825968"/>
                  </a:cubicBezTo>
                  <a:lnTo>
                    <a:pt x="0" y="77002"/>
                  </a:lnTo>
                  <a:cubicBezTo>
                    <a:pt x="0" y="56580"/>
                    <a:pt x="8113" y="36994"/>
                    <a:pt x="22553" y="22553"/>
                  </a:cubicBezTo>
                  <a:cubicBezTo>
                    <a:pt x="36994" y="8113"/>
                    <a:pt x="56580" y="0"/>
                    <a:pt x="7700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53135" cy="941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81625" y="6096000"/>
            <a:ext cx="3619500" cy="3429000"/>
            <a:chOff x="0" y="0"/>
            <a:chExt cx="953135" cy="9029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3135" cy="902970"/>
            </a:xfrm>
            <a:custGeom>
              <a:avLst/>
              <a:gdLst/>
              <a:ahLst/>
              <a:cxnLst/>
              <a:rect r="r" b="b" t="t" l="l"/>
              <a:pathLst>
                <a:path h="902970" w="953135">
                  <a:moveTo>
                    <a:pt x="77002" y="0"/>
                  </a:moveTo>
                  <a:lnTo>
                    <a:pt x="876133" y="0"/>
                  </a:lnTo>
                  <a:cubicBezTo>
                    <a:pt x="896555" y="0"/>
                    <a:pt x="916141" y="8113"/>
                    <a:pt x="930582" y="22553"/>
                  </a:cubicBezTo>
                  <a:cubicBezTo>
                    <a:pt x="945022" y="36994"/>
                    <a:pt x="953135" y="56580"/>
                    <a:pt x="953135" y="77002"/>
                  </a:cubicBezTo>
                  <a:lnTo>
                    <a:pt x="953135" y="825968"/>
                  </a:lnTo>
                  <a:cubicBezTo>
                    <a:pt x="953135" y="846390"/>
                    <a:pt x="945022" y="865976"/>
                    <a:pt x="930582" y="880417"/>
                  </a:cubicBezTo>
                  <a:cubicBezTo>
                    <a:pt x="916141" y="894857"/>
                    <a:pt x="896555" y="902970"/>
                    <a:pt x="876133" y="902970"/>
                  </a:cubicBezTo>
                  <a:lnTo>
                    <a:pt x="77002" y="902970"/>
                  </a:lnTo>
                  <a:cubicBezTo>
                    <a:pt x="56580" y="902970"/>
                    <a:pt x="36994" y="894857"/>
                    <a:pt x="22553" y="880417"/>
                  </a:cubicBezTo>
                  <a:cubicBezTo>
                    <a:pt x="8113" y="865976"/>
                    <a:pt x="0" y="846390"/>
                    <a:pt x="0" y="825968"/>
                  </a:cubicBezTo>
                  <a:lnTo>
                    <a:pt x="0" y="77002"/>
                  </a:lnTo>
                  <a:cubicBezTo>
                    <a:pt x="0" y="56580"/>
                    <a:pt x="8113" y="36994"/>
                    <a:pt x="22553" y="22553"/>
                  </a:cubicBezTo>
                  <a:cubicBezTo>
                    <a:pt x="36994" y="8113"/>
                    <a:pt x="56580" y="0"/>
                    <a:pt x="7700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53135" cy="941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86875" y="6096000"/>
            <a:ext cx="3619500" cy="3429000"/>
            <a:chOff x="0" y="0"/>
            <a:chExt cx="953135" cy="9029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3135" cy="902970"/>
            </a:xfrm>
            <a:custGeom>
              <a:avLst/>
              <a:gdLst/>
              <a:ahLst/>
              <a:cxnLst/>
              <a:rect r="r" b="b" t="t" l="l"/>
              <a:pathLst>
                <a:path h="902970" w="953135">
                  <a:moveTo>
                    <a:pt x="77002" y="0"/>
                  </a:moveTo>
                  <a:lnTo>
                    <a:pt x="876133" y="0"/>
                  </a:lnTo>
                  <a:cubicBezTo>
                    <a:pt x="896555" y="0"/>
                    <a:pt x="916141" y="8113"/>
                    <a:pt x="930582" y="22553"/>
                  </a:cubicBezTo>
                  <a:cubicBezTo>
                    <a:pt x="945022" y="36994"/>
                    <a:pt x="953135" y="56580"/>
                    <a:pt x="953135" y="77002"/>
                  </a:cubicBezTo>
                  <a:lnTo>
                    <a:pt x="953135" y="825968"/>
                  </a:lnTo>
                  <a:cubicBezTo>
                    <a:pt x="953135" y="846390"/>
                    <a:pt x="945022" y="865976"/>
                    <a:pt x="930582" y="880417"/>
                  </a:cubicBezTo>
                  <a:cubicBezTo>
                    <a:pt x="916141" y="894857"/>
                    <a:pt x="896555" y="902970"/>
                    <a:pt x="876133" y="902970"/>
                  </a:cubicBezTo>
                  <a:lnTo>
                    <a:pt x="77002" y="902970"/>
                  </a:lnTo>
                  <a:cubicBezTo>
                    <a:pt x="56580" y="902970"/>
                    <a:pt x="36994" y="894857"/>
                    <a:pt x="22553" y="880417"/>
                  </a:cubicBezTo>
                  <a:cubicBezTo>
                    <a:pt x="8113" y="865976"/>
                    <a:pt x="0" y="846390"/>
                    <a:pt x="0" y="825968"/>
                  </a:cubicBezTo>
                  <a:lnTo>
                    <a:pt x="0" y="77002"/>
                  </a:lnTo>
                  <a:cubicBezTo>
                    <a:pt x="0" y="56580"/>
                    <a:pt x="8113" y="36994"/>
                    <a:pt x="22553" y="22553"/>
                  </a:cubicBezTo>
                  <a:cubicBezTo>
                    <a:pt x="36994" y="8113"/>
                    <a:pt x="56580" y="0"/>
                    <a:pt x="7700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53135" cy="941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381625" y="2381250"/>
            <a:ext cx="3619500" cy="57150"/>
            <a:chOff x="0" y="0"/>
            <a:chExt cx="953135" cy="15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3135" cy="15049"/>
            </a:xfrm>
            <a:custGeom>
              <a:avLst/>
              <a:gdLst/>
              <a:ahLst/>
              <a:cxnLst/>
              <a:rect r="r" b="b" t="t" l="l"/>
              <a:pathLst>
                <a:path h="15049" w="953135">
                  <a:moveTo>
                    <a:pt x="0" y="0"/>
                  </a:moveTo>
                  <a:lnTo>
                    <a:pt x="953135" y="0"/>
                  </a:lnTo>
                  <a:lnTo>
                    <a:pt x="953135" y="15049"/>
                  </a:lnTo>
                  <a:lnTo>
                    <a:pt x="0" y="15049"/>
                  </a:lnTo>
                  <a:close/>
                </a:path>
              </a:pathLst>
            </a:custGeom>
            <a:solidFill>
              <a:srgbClr val="C20909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53135" cy="5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286875" y="2381250"/>
            <a:ext cx="3619500" cy="57150"/>
            <a:chOff x="0" y="0"/>
            <a:chExt cx="953135" cy="15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3135" cy="15049"/>
            </a:xfrm>
            <a:custGeom>
              <a:avLst/>
              <a:gdLst/>
              <a:ahLst/>
              <a:cxnLst/>
              <a:rect r="r" b="b" t="t" l="l"/>
              <a:pathLst>
                <a:path h="15049" w="953135">
                  <a:moveTo>
                    <a:pt x="0" y="0"/>
                  </a:moveTo>
                  <a:lnTo>
                    <a:pt x="953135" y="0"/>
                  </a:lnTo>
                  <a:lnTo>
                    <a:pt x="953135" y="15049"/>
                  </a:lnTo>
                  <a:lnTo>
                    <a:pt x="0" y="15049"/>
                  </a:lnTo>
                  <a:close/>
                </a:path>
              </a:pathLst>
            </a:custGeom>
            <a:solidFill>
              <a:srgbClr val="C20909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53135" cy="5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81625" y="6096000"/>
            <a:ext cx="3619500" cy="57150"/>
            <a:chOff x="0" y="0"/>
            <a:chExt cx="953135" cy="15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3135" cy="15049"/>
            </a:xfrm>
            <a:custGeom>
              <a:avLst/>
              <a:gdLst/>
              <a:ahLst/>
              <a:cxnLst/>
              <a:rect r="r" b="b" t="t" l="l"/>
              <a:pathLst>
                <a:path h="15049" w="953135">
                  <a:moveTo>
                    <a:pt x="0" y="0"/>
                  </a:moveTo>
                  <a:lnTo>
                    <a:pt x="953135" y="0"/>
                  </a:lnTo>
                  <a:lnTo>
                    <a:pt x="953135" y="15049"/>
                  </a:lnTo>
                  <a:lnTo>
                    <a:pt x="0" y="15049"/>
                  </a:lnTo>
                  <a:close/>
                </a:path>
              </a:pathLst>
            </a:custGeom>
            <a:solidFill>
              <a:srgbClr val="C20909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53135" cy="5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86875" y="6096000"/>
            <a:ext cx="3619500" cy="57150"/>
            <a:chOff x="0" y="0"/>
            <a:chExt cx="953135" cy="15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3135" cy="15049"/>
            </a:xfrm>
            <a:custGeom>
              <a:avLst/>
              <a:gdLst/>
              <a:ahLst/>
              <a:cxnLst/>
              <a:rect r="r" b="b" t="t" l="l"/>
              <a:pathLst>
                <a:path h="15049" w="953135">
                  <a:moveTo>
                    <a:pt x="0" y="0"/>
                  </a:moveTo>
                  <a:lnTo>
                    <a:pt x="953135" y="0"/>
                  </a:lnTo>
                  <a:lnTo>
                    <a:pt x="953135" y="15049"/>
                  </a:lnTo>
                  <a:lnTo>
                    <a:pt x="0" y="15049"/>
                  </a:lnTo>
                  <a:close/>
                </a:path>
              </a:pathLst>
            </a:custGeom>
            <a:solidFill>
              <a:srgbClr val="C20909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53135" cy="5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5810250" y="1514475"/>
            <a:ext cx="66675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7"/>
              </a:lnSpc>
            </a:pPr>
            <a:r>
              <a:rPr lang="en-US" b="true" sz="3447" u="none">
                <a:solidFill>
                  <a:srgbClr val="C20909"/>
                </a:solidFill>
                <a:latin typeface="DM Sans Bold"/>
                <a:ea typeface="DM Sans Bold"/>
                <a:cs typeface="DM Sans Bold"/>
                <a:sym typeface="DM Sans Bold"/>
              </a:rPr>
              <a:t>Tecnologías Utilizadas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572125" y="2638425"/>
            <a:ext cx="3238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7"/>
              </a:lnSpc>
            </a:pPr>
            <a:r>
              <a:rPr lang="en-US" b="true" sz="2247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Backend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667375" y="3067050"/>
            <a:ext cx="3048000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1599" u="none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Java 21</a:t>
            </a:r>
          </a:p>
          <a:p>
            <a:pPr algn="ctr">
              <a:lnSpc>
                <a:spcPts val="3199"/>
              </a:lnSpc>
            </a:pPr>
            <a:r>
              <a:rPr lang="en-US" sz="1599" u="none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Spring Boot</a:t>
            </a:r>
          </a:p>
          <a:p>
            <a:pPr algn="ctr">
              <a:lnSpc>
                <a:spcPts val="3199"/>
              </a:lnSpc>
            </a:pPr>
            <a:r>
              <a:rPr lang="en-US" sz="1599" u="none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Spring Data JPA</a:t>
            </a:r>
          </a:p>
          <a:p>
            <a:pPr algn="ctr">
              <a:lnSpc>
                <a:spcPts val="3199"/>
              </a:lnSpc>
            </a:pPr>
            <a:r>
              <a:rPr lang="en-US" sz="1599" u="none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Hibernate</a:t>
            </a:r>
          </a:p>
          <a:p>
            <a:pPr algn="ctr">
              <a:lnSpc>
                <a:spcPts val="3199"/>
              </a:lnSpc>
            </a:pPr>
            <a:r>
              <a:rPr lang="en-US" sz="1599" u="none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Maven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77375" y="2638425"/>
            <a:ext cx="3238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7"/>
              </a:lnSpc>
            </a:pPr>
            <a:r>
              <a:rPr lang="en-US" b="true" sz="2247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Arquitectura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72625" y="3067050"/>
            <a:ext cx="3048000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1599" u="none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Microservices</a:t>
            </a:r>
          </a:p>
          <a:p>
            <a:pPr algn="ctr">
              <a:lnSpc>
                <a:spcPts val="3199"/>
              </a:lnSpc>
            </a:pPr>
            <a:r>
              <a:rPr lang="en-US" sz="1599" u="none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REST APIs</a:t>
            </a:r>
          </a:p>
          <a:p>
            <a:pPr algn="ctr">
              <a:lnSpc>
                <a:spcPts val="3199"/>
              </a:lnSpc>
            </a:pPr>
            <a:r>
              <a:rPr lang="en-US" sz="1599" u="none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Eureka Server</a:t>
            </a:r>
          </a:p>
          <a:p>
            <a:pPr algn="ctr">
              <a:lnSpc>
                <a:spcPts val="3199"/>
              </a:lnSpc>
            </a:pPr>
            <a:r>
              <a:rPr lang="en-US" sz="1599" u="none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Feign Client</a:t>
            </a:r>
          </a:p>
          <a:p>
            <a:pPr algn="ctr">
              <a:lnSpc>
                <a:spcPts val="3199"/>
              </a:lnSpc>
            </a:pPr>
            <a:r>
              <a:rPr lang="en-US" sz="1599" u="none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API Gateway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572125" y="6353175"/>
            <a:ext cx="3238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7"/>
              </a:lnSpc>
            </a:pPr>
            <a:r>
              <a:rPr lang="en-US" b="true" sz="2247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Base de Datos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667375" y="6781800"/>
            <a:ext cx="3048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1599" u="none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MySQL</a:t>
            </a:r>
          </a:p>
          <a:p>
            <a:pPr algn="ctr">
              <a:lnSpc>
                <a:spcPts val="3199"/>
              </a:lnSpc>
            </a:pPr>
            <a:r>
              <a:rPr lang="en-US" sz="1599" u="none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Oracle SQL Data Modeler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572625" y="6982142"/>
            <a:ext cx="3048000" cy="116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1599" u="none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Postman</a:t>
            </a:r>
          </a:p>
          <a:p>
            <a:pPr algn="ctr">
              <a:lnSpc>
                <a:spcPts val="3199"/>
              </a:lnSpc>
            </a:pPr>
            <a:r>
              <a:rPr lang="en-US" sz="1599" u="none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Visual Studio Code</a:t>
            </a:r>
          </a:p>
          <a:p>
            <a:pPr algn="ctr">
              <a:lnSpc>
                <a:spcPts val="3199"/>
              </a:lnSpc>
            </a:pPr>
            <a:r>
              <a:rPr lang="en-US" sz="1599" u="none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GitHub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477375" y="6353175"/>
            <a:ext cx="3238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7"/>
              </a:lnSpc>
            </a:pPr>
            <a:r>
              <a:rPr lang="en-US" b="true" sz="2247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Herramientas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05776" y="-2688673"/>
            <a:ext cx="7641673" cy="76416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48740" y="5546659"/>
            <a:ext cx="7641673" cy="76416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825930" y="628890"/>
            <a:ext cx="982636" cy="799620"/>
          </a:xfrm>
          <a:custGeom>
            <a:avLst/>
            <a:gdLst/>
            <a:ahLst/>
            <a:cxnLst/>
            <a:rect r="r" b="b" t="t" l="l"/>
            <a:pathLst>
              <a:path h="799620" w="982636">
                <a:moveTo>
                  <a:pt x="982636" y="0"/>
                </a:moveTo>
                <a:lnTo>
                  <a:pt x="0" y="0"/>
                </a:lnTo>
                <a:lnTo>
                  <a:pt x="0" y="799620"/>
                </a:lnTo>
                <a:lnTo>
                  <a:pt x="982636" y="799620"/>
                </a:lnTo>
                <a:lnTo>
                  <a:pt x="9826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45652" y="1000125"/>
            <a:ext cx="2539503" cy="288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3"/>
              </a:lnSpc>
            </a:pPr>
            <a:r>
              <a:rPr lang="en-US" b="true" sz="175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ROYAL LOGISTICS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906000" y="6924675"/>
            <a:ext cx="3429000" cy="0"/>
          </a:xfrm>
          <a:prstGeom prst="line">
            <a:avLst/>
          </a:prstGeom>
          <a:ln cap="rnd" w="9525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3651033" y="6948488"/>
            <a:ext cx="3429000" cy="0"/>
          </a:xfrm>
          <a:prstGeom prst="line">
            <a:avLst/>
          </a:prstGeom>
          <a:ln cap="rnd" w="9525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9906000" y="2300288"/>
            <a:ext cx="3429000" cy="0"/>
          </a:xfrm>
          <a:prstGeom prst="line">
            <a:avLst/>
          </a:prstGeom>
          <a:ln cap="rnd" w="9525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3508158" y="2286000"/>
            <a:ext cx="3429000" cy="0"/>
          </a:xfrm>
          <a:prstGeom prst="line">
            <a:avLst/>
          </a:prstGeom>
          <a:ln cap="rnd" w="9525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3222408" y="1809750"/>
            <a:ext cx="4000500" cy="3914775"/>
            <a:chOff x="0" y="0"/>
            <a:chExt cx="1053465" cy="10308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3465" cy="1030891"/>
            </a:xfrm>
            <a:custGeom>
              <a:avLst/>
              <a:gdLst/>
              <a:ahLst/>
              <a:cxnLst/>
              <a:rect r="r" b="b" t="t" l="l"/>
              <a:pathLst>
                <a:path h="1030891" w="1053465">
                  <a:moveTo>
                    <a:pt x="71604" y="0"/>
                  </a:moveTo>
                  <a:lnTo>
                    <a:pt x="981861" y="0"/>
                  </a:lnTo>
                  <a:cubicBezTo>
                    <a:pt x="1021407" y="0"/>
                    <a:pt x="1053465" y="32058"/>
                    <a:pt x="1053465" y="71604"/>
                  </a:cubicBezTo>
                  <a:lnTo>
                    <a:pt x="1053465" y="959287"/>
                  </a:lnTo>
                  <a:cubicBezTo>
                    <a:pt x="1053465" y="998833"/>
                    <a:pt x="1021407" y="1030891"/>
                    <a:pt x="981861" y="1030891"/>
                  </a:cubicBezTo>
                  <a:lnTo>
                    <a:pt x="71604" y="1030891"/>
                  </a:lnTo>
                  <a:cubicBezTo>
                    <a:pt x="32058" y="1030891"/>
                    <a:pt x="0" y="998833"/>
                    <a:pt x="0" y="959287"/>
                  </a:cubicBezTo>
                  <a:lnTo>
                    <a:pt x="0" y="71604"/>
                  </a:lnTo>
                  <a:cubicBezTo>
                    <a:pt x="0" y="32058"/>
                    <a:pt x="32058" y="0"/>
                    <a:pt x="7160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53465" cy="1068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20250" y="1824038"/>
            <a:ext cx="4000500" cy="3319462"/>
            <a:chOff x="0" y="0"/>
            <a:chExt cx="1053465" cy="8741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3465" cy="874125"/>
            </a:xfrm>
            <a:custGeom>
              <a:avLst/>
              <a:gdLst/>
              <a:ahLst/>
              <a:cxnLst/>
              <a:rect r="r" b="b" t="t" l="l"/>
              <a:pathLst>
                <a:path h="874125" w="1053465">
                  <a:moveTo>
                    <a:pt x="71604" y="0"/>
                  </a:moveTo>
                  <a:lnTo>
                    <a:pt x="981861" y="0"/>
                  </a:lnTo>
                  <a:cubicBezTo>
                    <a:pt x="1021407" y="0"/>
                    <a:pt x="1053465" y="32058"/>
                    <a:pt x="1053465" y="71604"/>
                  </a:cubicBezTo>
                  <a:lnTo>
                    <a:pt x="1053465" y="802521"/>
                  </a:lnTo>
                  <a:cubicBezTo>
                    <a:pt x="1053465" y="842067"/>
                    <a:pt x="1021407" y="874125"/>
                    <a:pt x="981861" y="874125"/>
                  </a:cubicBezTo>
                  <a:lnTo>
                    <a:pt x="71604" y="874125"/>
                  </a:lnTo>
                  <a:cubicBezTo>
                    <a:pt x="32058" y="874125"/>
                    <a:pt x="0" y="842067"/>
                    <a:pt x="0" y="802521"/>
                  </a:cubicBezTo>
                  <a:lnTo>
                    <a:pt x="0" y="71604"/>
                  </a:lnTo>
                  <a:cubicBezTo>
                    <a:pt x="0" y="32058"/>
                    <a:pt x="32058" y="0"/>
                    <a:pt x="7160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53465" cy="912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65283" y="6472238"/>
            <a:ext cx="4000500" cy="3238500"/>
            <a:chOff x="0" y="0"/>
            <a:chExt cx="1053465" cy="85280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3465" cy="852805"/>
            </a:xfrm>
            <a:custGeom>
              <a:avLst/>
              <a:gdLst/>
              <a:ahLst/>
              <a:cxnLst/>
              <a:rect r="r" b="b" t="t" l="l"/>
              <a:pathLst>
                <a:path h="852805" w="1053465">
                  <a:moveTo>
                    <a:pt x="65798" y="0"/>
                  </a:moveTo>
                  <a:lnTo>
                    <a:pt x="987667" y="0"/>
                  </a:lnTo>
                  <a:cubicBezTo>
                    <a:pt x="1005118" y="0"/>
                    <a:pt x="1021854" y="6932"/>
                    <a:pt x="1034193" y="19272"/>
                  </a:cubicBezTo>
                  <a:cubicBezTo>
                    <a:pt x="1046533" y="31611"/>
                    <a:pt x="1053465" y="48347"/>
                    <a:pt x="1053465" y="65798"/>
                  </a:cubicBezTo>
                  <a:lnTo>
                    <a:pt x="1053465" y="787007"/>
                  </a:lnTo>
                  <a:cubicBezTo>
                    <a:pt x="1053465" y="804458"/>
                    <a:pt x="1046533" y="821194"/>
                    <a:pt x="1034193" y="833533"/>
                  </a:cubicBezTo>
                  <a:cubicBezTo>
                    <a:pt x="1021854" y="845873"/>
                    <a:pt x="1005118" y="852805"/>
                    <a:pt x="987667" y="852805"/>
                  </a:cubicBezTo>
                  <a:lnTo>
                    <a:pt x="65798" y="852805"/>
                  </a:lnTo>
                  <a:cubicBezTo>
                    <a:pt x="48347" y="852805"/>
                    <a:pt x="31611" y="845873"/>
                    <a:pt x="19272" y="833533"/>
                  </a:cubicBezTo>
                  <a:cubicBezTo>
                    <a:pt x="6932" y="821194"/>
                    <a:pt x="0" y="804458"/>
                    <a:pt x="0" y="787007"/>
                  </a:cubicBezTo>
                  <a:lnTo>
                    <a:pt x="0" y="65798"/>
                  </a:lnTo>
                  <a:cubicBezTo>
                    <a:pt x="0" y="48347"/>
                    <a:pt x="6932" y="31611"/>
                    <a:pt x="19272" y="19272"/>
                  </a:cubicBezTo>
                  <a:cubicBezTo>
                    <a:pt x="31611" y="6932"/>
                    <a:pt x="48347" y="0"/>
                    <a:pt x="6579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53465" cy="890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20250" y="6448425"/>
            <a:ext cx="4000500" cy="3238500"/>
            <a:chOff x="0" y="0"/>
            <a:chExt cx="1053465" cy="8528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3465" cy="852805"/>
            </a:xfrm>
            <a:custGeom>
              <a:avLst/>
              <a:gdLst/>
              <a:ahLst/>
              <a:cxnLst/>
              <a:rect r="r" b="b" t="t" l="l"/>
              <a:pathLst>
                <a:path h="852805" w="1053465">
                  <a:moveTo>
                    <a:pt x="65798" y="0"/>
                  </a:moveTo>
                  <a:lnTo>
                    <a:pt x="987667" y="0"/>
                  </a:lnTo>
                  <a:cubicBezTo>
                    <a:pt x="1005118" y="0"/>
                    <a:pt x="1021854" y="6932"/>
                    <a:pt x="1034193" y="19272"/>
                  </a:cubicBezTo>
                  <a:cubicBezTo>
                    <a:pt x="1046533" y="31611"/>
                    <a:pt x="1053465" y="48347"/>
                    <a:pt x="1053465" y="65798"/>
                  </a:cubicBezTo>
                  <a:lnTo>
                    <a:pt x="1053465" y="787007"/>
                  </a:lnTo>
                  <a:cubicBezTo>
                    <a:pt x="1053465" y="804458"/>
                    <a:pt x="1046533" y="821194"/>
                    <a:pt x="1034193" y="833533"/>
                  </a:cubicBezTo>
                  <a:cubicBezTo>
                    <a:pt x="1021854" y="845873"/>
                    <a:pt x="1005118" y="852805"/>
                    <a:pt x="987667" y="852805"/>
                  </a:cubicBezTo>
                  <a:lnTo>
                    <a:pt x="65798" y="852805"/>
                  </a:lnTo>
                  <a:cubicBezTo>
                    <a:pt x="48347" y="852805"/>
                    <a:pt x="31611" y="845873"/>
                    <a:pt x="19272" y="833533"/>
                  </a:cubicBezTo>
                  <a:cubicBezTo>
                    <a:pt x="6932" y="821194"/>
                    <a:pt x="0" y="804458"/>
                    <a:pt x="0" y="787007"/>
                  </a:cubicBezTo>
                  <a:lnTo>
                    <a:pt x="0" y="65798"/>
                  </a:lnTo>
                  <a:cubicBezTo>
                    <a:pt x="0" y="48347"/>
                    <a:pt x="6932" y="31611"/>
                    <a:pt x="19272" y="19272"/>
                  </a:cubicBezTo>
                  <a:cubicBezTo>
                    <a:pt x="31611" y="6932"/>
                    <a:pt x="48347" y="0"/>
                    <a:pt x="6579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53465" cy="890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222408" y="1809750"/>
            <a:ext cx="4000500" cy="47625"/>
            <a:chOff x="0" y="0"/>
            <a:chExt cx="1053465" cy="1254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3465" cy="12541"/>
            </a:xfrm>
            <a:custGeom>
              <a:avLst/>
              <a:gdLst/>
              <a:ahLst/>
              <a:cxnLst/>
              <a:rect r="r" b="b" t="t" l="l"/>
              <a:pathLst>
                <a:path h="12541" w="1053465">
                  <a:moveTo>
                    <a:pt x="0" y="0"/>
                  </a:moveTo>
                  <a:lnTo>
                    <a:pt x="1053465" y="0"/>
                  </a:lnTo>
                  <a:lnTo>
                    <a:pt x="1053465" y="12541"/>
                  </a:lnTo>
                  <a:lnTo>
                    <a:pt x="0" y="12541"/>
                  </a:lnTo>
                  <a:close/>
                </a:path>
              </a:pathLst>
            </a:custGeom>
            <a:solidFill>
              <a:srgbClr val="C20909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53465" cy="50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20250" y="1824038"/>
            <a:ext cx="4000500" cy="47625"/>
            <a:chOff x="0" y="0"/>
            <a:chExt cx="1053465" cy="1254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53465" cy="12541"/>
            </a:xfrm>
            <a:custGeom>
              <a:avLst/>
              <a:gdLst/>
              <a:ahLst/>
              <a:cxnLst/>
              <a:rect r="r" b="b" t="t" l="l"/>
              <a:pathLst>
                <a:path h="12541" w="1053465">
                  <a:moveTo>
                    <a:pt x="0" y="0"/>
                  </a:moveTo>
                  <a:lnTo>
                    <a:pt x="1053465" y="0"/>
                  </a:lnTo>
                  <a:lnTo>
                    <a:pt x="1053465" y="12541"/>
                  </a:lnTo>
                  <a:lnTo>
                    <a:pt x="0" y="12541"/>
                  </a:lnTo>
                  <a:close/>
                </a:path>
              </a:pathLst>
            </a:custGeom>
            <a:solidFill>
              <a:srgbClr val="C20909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53465" cy="50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365283" y="6472238"/>
            <a:ext cx="4000500" cy="47625"/>
            <a:chOff x="0" y="0"/>
            <a:chExt cx="1053465" cy="125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53465" cy="12541"/>
            </a:xfrm>
            <a:custGeom>
              <a:avLst/>
              <a:gdLst/>
              <a:ahLst/>
              <a:cxnLst/>
              <a:rect r="r" b="b" t="t" l="l"/>
              <a:pathLst>
                <a:path h="12541" w="1053465">
                  <a:moveTo>
                    <a:pt x="0" y="0"/>
                  </a:moveTo>
                  <a:lnTo>
                    <a:pt x="1053465" y="0"/>
                  </a:lnTo>
                  <a:lnTo>
                    <a:pt x="1053465" y="12541"/>
                  </a:lnTo>
                  <a:lnTo>
                    <a:pt x="0" y="12541"/>
                  </a:lnTo>
                  <a:close/>
                </a:path>
              </a:pathLst>
            </a:custGeom>
            <a:solidFill>
              <a:srgbClr val="C20909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53465" cy="50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20250" y="6448425"/>
            <a:ext cx="4000500" cy="47625"/>
            <a:chOff x="0" y="0"/>
            <a:chExt cx="1053465" cy="1254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53465" cy="12541"/>
            </a:xfrm>
            <a:custGeom>
              <a:avLst/>
              <a:gdLst/>
              <a:ahLst/>
              <a:cxnLst/>
              <a:rect r="r" b="b" t="t" l="l"/>
              <a:pathLst>
                <a:path h="12541" w="1053465">
                  <a:moveTo>
                    <a:pt x="0" y="0"/>
                  </a:moveTo>
                  <a:lnTo>
                    <a:pt x="1053465" y="0"/>
                  </a:lnTo>
                  <a:lnTo>
                    <a:pt x="1053465" y="12541"/>
                  </a:lnTo>
                  <a:lnTo>
                    <a:pt x="0" y="12541"/>
                  </a:lnTo>
                  <a:close/>
                </a:path>
              </a:pathLst>
            </a:custGeom>
            <a:solidFill>
              <a:srgbClr val="C20909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53465" cy="50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572125" y="971310"/>
            <a:ext cx="71437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7"/>
              </a:lnSpc>
            </a:pPr>
            <a:r>
              <a:rPr lang="en-US" b="true" sz="3447" u="none">
                <a:solidFill>
                  <a:srgbClr val="C20909"/>
                </a:solidFill>
                <a:latin typeface="DM Sans Bold"/>
                <a:ea typeface="DM Sans Bold"/>
                <a:cs typeface="DM Sans Bold"/>
                <a:sym typeface="DM Sans Bold"/>
              </a:rPr>
              <a:t>Estado Actual del Sistema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365283" y="2000250"/>
            <a:ext cx="37147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b="true" sz="1872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Microservicios implementados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508158" y="2206625"/>
            <a:ext cx="3429000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Eureka Server</a:t>
            </a:r>
          </a:p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Autenticación</a:t>
            </a:r>
          </a:p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Recepción</a:t>
            </a:r>
          </a:p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Factura</a:t>
            </a:r>
          </a:p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Producto</a:t>
            </a:r>
          </a:p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Warehouse</a:t>
            </a:r>
          </a:p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Stock</a:t>
            </a:r>
          </a:p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Movimiento</a:t>
            </a:r>
          </a:p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Desconsolidación</a:t>
            </a:r>
          </a:p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Andén</a:t>
            </a:r>
          </a:p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Camión</a:t>
            </a:r>
          </a:p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Creación de Usuario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906000" y="2266950"/>
            <a:ext cx="3429000" cy="2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14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APIs REST</a:t>
            </a:r>
          </a:p>
          <a:p>
            <a:pPr algn="l">
              <a:lnSpc>
                <a:spcPts val="2549"/>
              </a:lnSpc>
            </a:pPr>
            <a:r>
              <a:rPr lang="en-US" sz="14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Arquitectura desacoplada</a:t>
            </a:r>
          </a:p>
          <a:p>
            <a:pPr algn="l">
              <a:lnSpc>
                <a:spcPts val="2549"/>
              </a:lnSpc>
            </a:pPr>
            <a:r>
              <a:rPr lang="en-US" sz="14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Eureka Discovery Server</a:t>
            </a:r>
          </a:p>
          <a:p>
            <a:pPr algn="l">
              <a:lnSpc>
                <a:spcPts val="2549"/>
              </a:lnSpc>
            </a:pPr>
            <a:r>
              <a:rPr lang="en-US" sz="14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Feign Client</a:t>
            </a:r>
          </a:p>
          <a:p>
            <a:pPr algn="l">
              <a:lnSpc>
                <a:spcPts val="2549"/>
              </a:lnSpc>
            </a:pPr>
            <a:r>
              <a:rPr lang="en-US" sz="14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Comunicación entre microservicios</a:t>
            </a:r>
          </a:p>
          <a:p>
            <a:pPr algn="l">
              <a:lnSpc>
                <a:spcPts val="2549"/>
              </a:lnSpc>
            </a:pPr>
            <a:r>
              <a:rPr lang="en-US" sz="14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Validaciones cruzadas</a:t>
            </a:r>
          </a:p>
          <a:p>
            <a:pPr algn="l">
              <a:lnSpc>
                <a:spcPts val="2549"/>
              </a:lnSpc>
            </a:pPr>
            <a:r>
              <a:rPr lang="en-US" sz="14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</a:t>
            </a:r>
            <a:r>
              <a:rPr lang="en-US" sz="14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Modelado </a:t>
            </a:r>
            <a:r>
              <a:rPr lang="en-US" sz="14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14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4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 b</a:t>
            </a:r>
            <a:r>
              <a:rPr lang="en-US" sz="14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4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se de d</a:t>
            </a:r>
            <a:r>
              <a:rPr lang="en-US" sz="14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4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tos</a:t>
            </a:r>
          </a:p>
          <a:p>
            <a:pPr algn="l">
              <a:lnSpc>
                <a:spcPts val="2549"/>
              </a:lnSpc>
            </a:pPr>
            <a:r>
              <a:rPr lang="en-US" sz="14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Trazabilidad logística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508158" y="6662738"/>
            <a:ext cx="37147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9"/>
              </a:lnSpc>
            </a:pPr>
            <a:r>
              <a:rPr lang="en-US" b="true" sz="1809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Funcionalidades implementadas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651033" y="6897687"/>
            <a:ext cx="3429000" cy="263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Registro de productos</a:t>
            </a:r>
          </a:p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Gestión de warehouse</a:t>
            </a:r>
          </a:p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Control de stock</a:t>
            </a:r>
          </a:p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Registro de movimientos</a:t>
            </a:r>
          </a:p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Recepción de mercadería</a:t>
            </a:r>
          </a:p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Validación de facturas</a:t>
            </a:r>
          </a:p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Desconsolidación de productos</a:t>
            </a:r>
          </a:p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Trazabilidad de operaciones</a:t>
            </a:r>
          </a:p>
          <a:p>
            <a:pPr algn="l">
              <a:lnSpc>
                <a:spcPts val="2379"/>
              </a:lnSpc>
            </a:pPr>
            <a:r>
              <a:rPr lang="en-US" sz="1399" u="none">
                <a:solidFill>
                  <a:srgbClr val="555555"/>
                </a:solidFill>
                <a:latin typeface="Open Sauce"/>
                <a:ea typeface="Open Sauce"/>
                <a:cs typeface="Open Sauce"/>
                <a:sym typeface="Open Sauce"/>
              </a:rPr>
              <a:t>✔ Gestión de ubicaciones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906000" y="6872288"/>
            <a:ext cx="342900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1499" u="none">
                <a:solidFill>
                  <a:srgbClr val="B45309"/>
                </a:solidFill>
                <a:latin typeface="Open Sauce"/>
                <a:ea typeface="Open Sauce"/>
                <a:cs typeface="Open Sauce"/>
                <a:sym typeface="Open Sauce"/>
              </a:rPr>
              <a:t>⬜ API Gateway (En desarrollo)</a:t>
            </a:r>
          </a:p>
          <a:p>
            <a:pPr algn="l">
              <a:lnSpc>
                <a:spcPts val="2549"/>
              </a:lnSpc>
            </a:pPr>
            <a:r>
              <a:rPr lang="en-US" sz="1499" u="none">
                <a:solidFill>
                  <a:srgbClr val="B45309"/>
                </a:solidFill>
                <a:latin typeface="Open Sauce"/>
                <a:ea typeface="Open Sauce"/>
                <a:cs typeface="Open Sauce"/>
                <a:sym typeface="Open Sauce"/>
              </a:rPr>
              <a:t>⬜ Seguridad centralizada (Validación de permisos, roles y autenticación)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763125" y="6638925"/>
            <a:ext cx="37147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b="true" sz="1872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 desarrollo / Pendiente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763125" y="2014538"/>
            <a:ext cx="37147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b="true" sz="1872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Integraciones implementadas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5184" y="-2498173"/>
            <a:ext cx="7641673" cy="76416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48740" y="5546659"/>
            <a:ext cx="7641673" cy="76416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825930" y="628890"/>
            <a:ext cx="982636" cy="799620"/>
          </a:xfrm>
          <a:custGeom>
            <a:avLst/>
            <a:gdLst/>
            <a:ahLst/>
            <a:cxnLst/>
            <a:rect r="r" b="b" t="t" l="l"/>
            <a:pathLst>
              <a:path h="799620" w="982636">
                <a:moveTo>
                  <a:pt x="982636" y="0"/>
                </a:moveTo>
                <a:lnTo>
                  <a:pt x="0" y="0"/>
                </a:lnTo>
                <a:lnTo>
                  <a:pt x="0" y="799620"/>
                </a:lnTo>
                <a:lnTo>
                  <a:pt x="982636" y="799620"/>
                </a:lnTo>
                <a:lnTo>
                  <a:pt x="9826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29000" y="846414"/>
            <a:ext cx="11430000" cy="485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5"/>
              </a:lnSpc>
              <a:spcBef>
                <a:spcPct val="0"/>
              </a:spcBef>
            </a:pPr>
            <a:r>
              <a:rPr lang="en-US" b="true" sz="3500" strike="noStrike" u="none">
                <a:solidFill>
                  <a:srgbClr val="C20909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45652" y="903246"/>
            <a:ext cx="254317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4"/>
              </a:lnSpc>
              <a:spcBef>
                <a:spcPct val="0"/>
              </a:spcBef>
            </a:pPr>
            <a:r>
              <a:rPr lang="en-US" b="true" sz="1760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ROYAL LOGISTICS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05250" y="2192655"/>
            <a:ext cx="10477500" cy="447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El desarrollo del sistema permitió integrar conceptos de logística, trazabilidad y arquitectura de microservicios dentro de una solución orientada a operaciones y administración de warehouse.</a:t>
            </a:r>
          </a:p>
          <a:p>
            <a:pPr algn="ctr" marL="0" indent="0" lvl="0">
              <a:lnSpc>
                <a:spcPts val="324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La separación de responsabilidades mediante microservicios permitió mantener un sistema modular, escalable y desacoplado, facilitando la comunicación entre procesos logísticos y el control operacional.</a:t>
            </a:r>
          </a:p>
          <a:p>
            <a:pPr algn="ctr" marL="0" indent="0" lvl="0">
              <a:lnSpc>
                <a:spcPts val="324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El proyecto permitió aplicar tecnologías backend modernas vistas en clases como Spring Boot, Eureka Server, Feign Client y APIs REST para representar un flujo logístico real dentro de un entorno académico.</a:t>
            </a:r>
          </a:p>
        </p:txBody>
      </p:sp>
      <p:sp>
        <p:nvSpPr>
          <p:cNvPr name="AutoShape 12" id="12"/>
          <p:cNvSpPr/>
          <p:nvPr/>
        </p:nvSpPr>
        <p:spPr>
          <a:xfrm>
            <a:off x="7239000" y="7804658"/>
            <a:ext cx="3810000" cy="0"/>
          </a:xfrm>
          <a:prstGeom prst="line">
            <a:avLst/>
          </a:prstGeom>
          <a:ln cap="rnd" w="19050">
            <a:solidFill>
              <a:srgbClr val="C2090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4857750" y="8066595"/>
            <a:ext cx="85725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6"/>
              </a:lnSpc>
              <a:spcBef>
                <a:spcPct val="0"/>
              </a:spcBef>
            </a:pPr>
            <a:r>
              <a:rPr lang="en-US" sz="2330" i="true" strike="noStrike" u="none">
                <a:solidFill>
                  <a:srgbClr val="C20909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Arquitectura modular aplicada a procesos logísticos reales.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DAHKC7R4wZQ</dc:identifier>
  <dcterms:modified xsi:type="dcterms:W3CDTF">2011-08-01T06:04:30Z</dcterms:modified>
  <cp:revision>1</cp:revision>
  <dc:title>Sistema Logístico - Optimización y almacenamiento</dc:title>
</cp:coreProperties>
</file>